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9"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5400" cap="all" baseline="0">
                <a:solidFill>
                  <a:schemeClr val="tx2"/>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2679908" y="3956281"/>
            <a:ext cx="6831673" cy="1086237"/>
          </a:xfrm>
        </p:spPr>
        <p:txBody>
          <a:bodyPr>
            <a:normAutofit/>
          </a:bodyPr>
          <a:lstStyle>
            <a:lvl1pPr marL="0" indent="0" algn="ctr">
              <a:lnSpc>
                <a:spcPct val="112000"/>
              </a:lnSpc>
              <a:spcBef>
                <a:spcPts val="0"/>
              </a:spcBef>
              <a:spcAft>
                <a:spcPts val="0"/>
              </a:spcAft>
              <a:buNone/>
              <a:defRPr sz="1725"/>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52857" y="6453386"/>
            <a:ext cx="1607944" cy="404614"/>
          </a:xfrm>
        </p:spPr>
        <p:txBody>
          <a:bodyPr/>
          <a:lstStyle>
            <a:lvl1pPr>
              <a:defRPr baseline="0">
                <a:solidFill>
                  <a:schemeClr val="tx2"/>
                </a:solidFill>
              </a:defRPr>
            </a:lvl1pPr>
          </a:lstStyle>
          <a:p>
            <a:fld id="{87DE6118-2437-4B30-8E3C-4D2BE6020583}" type="datetimeFigureOut">
              <a:rPr lang="en-US" dirty="0"/>
              <a:pPr/>
              <a:t>6/10/2026</a:t>
            </a:fld>
            <a:endParaRPr lang="en-US" dirty="0"/>
          </a:p>
        </p:txBody>
      </p:sp>
      <p:sp>
        <p:nvSpPr>
          <p:cNvPr id="5" name="Footer Placeholder 4"/>
          <p:cNvSpPr>
            <a:spLocks noGrp="1"/>
          </p:cNvSpPr>
          <p:nvPr>
            <p:ph type="ftr" sz="quarter" idx="11"/>
          </p:nvPr>
        </p:nvSpPr>
        <p:spPr>
          <a:xfrm>
            <a:off x="2584056"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‹Nº›</a:t>
            </a:fld>
            <a:endParaRPr lang="en-US" dirty="0"/>
          </a:p>
        </p:txBody>
      </p:sp>
      <p:grpSp>
        <p:nvGrpSpPr>
          <p:cNvPr id="7" name="Group 6"/>
          <p:cNvGrpSpPr/>
          <p:nvPr/>
        </p:nvGrpSpPr>
        <p:grpSpPr>
          <a:xfrm>
            <a:off x="752859"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53471526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369810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2"/>
            <a:ext cx="9612971" cy="2852737"/>
          </a:xfrm>
        </p:spPr>
        <p:txBody>
          <a:bodyPr anchor="b">
            <a:normAutofit/>
          </a:bodyPr>
          <a:lstStyle>
            <a:lvl1pPr algn="r">
              <a:defRPr sz="5400" cap="all" baseline="0">
                <a:solidFill>
                  <a:schemeClr val="tx2"/>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a:xfrm>
            <a:off x="738909" y="6453386"/>
            <a:ext cx="1622409" cy="404614"/>
          </a:xfrm>
        </p:spPr>
        <p:txBody>
          <a:bodyPr/>
          <a:lstStyle>
            <a:lvl1pPr>
              <a:defRPr>
                <a:solidFill>
                  <a:schemeClr val="tx2"/>
                </a:solidFill>
              </a:defRPr>
            </a:lvl1pPr>
          </a:lstStyle>
          <a:p>
            <a:fld id="{87DE6118-2437-4B30-8E3C-4D2BE6020583}" type="datetimeFigureOut">
              <a:rPr lang="en-US" dirty="0"/>
              <a:pPr/>
              <a:t>6/10/2026</a:t>
            </a:fld>
            <a:endParaRPr lang="en-US" dirty="0"/>
          </a:p>
        </p:txBody>
      </p:sp>
      <p:sp>
        <p:nvSpPr>
          <p:cNvPr id="5" name="Footer Placeholder 4"/>
          <p:cNvSpPr>
            <a:spLocks noGrp="1"/>
          </p:cNvSpPr>
          <p:nvPr>
            <p:ph type="ftr" sz="quarter" idx="11"/>
          </p:nvPr>
        </p:nvSpPr>
        <p:spPr>
          <a:xfrm>
            <a:off x="2584313"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7" name="Freeform 6" title="Crop Mark"/>
          <p:cNvSpPr/>
          <p:nvPr/>
        </p:nvSpPr>
        <p:spPr bwMode="auto">
          <a:xfrm>
            <a:off x="8151963"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74104727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MX"/>
              <a:t>Haz clic para modificar el estilo de título del patrón</a:t>
            </a:r>
            <a:endParaRPr lang="en-US" dirty="0"/>
          </a:p>
        </p:txBody>
      </p:sp>
      <p:sp>
        <p:nvSpPr>
          <p:cNvPr id="3" name="Content Placeholder 2"/>
          <p:cNvSpPr>
            <a:spLocks noGrp="1"/>
          </p:cNvSpPr>
          <p:nvPr>
            <p:ph sz="half" idx="1"/>
          </p:nvPr>
        </p:nvSpPr>
        <p:spPr>
          <a:xfrm>
            <a:off x="1371600" y="2286001"/>
            <a:ext cx="4447787"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525403" y="2286001"/>
            <a:ext cx="4447787"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1909613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4" name="Content Placeholder 3"/>
          <p:cNvSpPr>
            <a:spLocks noGrp="1"/>
          </p:cNvSpPr>
          <p:nvPr>
            <p:ph sz="half" idx="2"/>
          </p:nvPr>
        </p:nvSpPr>
        <p:spPr>
          <a:xfrm>
            <a:off x="1371600" y="3305209"/>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5015" y="2340864"/>
            <a:ext cx="4443984" cy="823912"/>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MX"/>
              <a:t>Haga clic para modificar los estilos de texto del patrón</a:t>
            </a:r>
          </a:p>
        </p:txBody>
      </p:sp>
      <p:sp>
        <p:nvSpPr>
          <p:cNvPr id="6" name="Content Placeholder 5"/>
          <p:cNvSpPr>
            <a:spLocks noGrp="1"/>
          </p:cNvSpPr>
          <p:nvPr>
            <p:ph sz="quarter" idx="4"/>
          </p:nvPr>
        </p:nvSpPr>
        <p:spPr>
          <a:xfrm>
            <a:off x="6525015" y="3305209"/>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52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401578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61438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3600" baseline="0">
                <a:solidFill>
                  <a:schemeClr val="tx2"/>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6256020" y="685801"/>
            <a:ext cx="521208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Date Placeholder 4"/>
          <p:cNvSpPr>
            <a:spLocks noGrp="1"/>
          </p:cNvSpPr>
          <p:nvPr>
            <p:ph type="dt" sz="half" idx="10"/>
          </p:nvPr>
        </p:nvSpPr>
        <p:spPr>
          <a:xfrm>
            <a:off x="723901" y="6453386"/>
            <a:ext cx="1204572" cy="404614"/>
          </a:xfrm>
        </p:spPr>
        <p:txBody>
          <a:bodyPr/>
          <a:lstStyle>
            <a:lvl1pPr>
              <a:defRPr>
                <a:solidFill>
                  <a:schemeClr val="tx2"/>
                </a:solidFill>
              </a:defRPr>
            </a:lvl1pPr>
          </a:lstStyle>
          <a:p>
            <a:fld id="{87DE6118-2437-4B30-8E3C-4D2BE6020583}" type="datetimeFigureOut">
              <a:rPr lang="en-US" dirty="0"/>
              <a:pPr/>
              <a:t>6/10/2026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1"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37165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3600" baseline="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532120" y="1"/>
            <a:ext cx="665988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MX"/>
              <a:t>Haga clic para modificar los estilos de texto del patrón</a:t>
            </a:r>
          </a:p>
        </p:txBody>
      </p:sp>
      <p:sp>
        <p:nvSpPr>
          <p:cNvPr id="5" name="Date Placeholder 4"/>
          <p:cNvSpPr>
            <a:spLocks noGrp="1"/>
          </p:cNvSpPr>
          <p:nvPr>
            <p:ph type="dt" sz="half" idx="10"/>
          </p:nvPr>
        </p:nvSpPr>
        <p:spPr>
          <a:xfrm>
            <a:off x="723901" y="6453386"/>
            <a:ext cx="1204572" cy="404614"/>
          </a:xfrm>
        </p:spPr>
        <p:txBody>
          <a:bodyPr/>
          <a:lstStyle>
            <a:lvl1pPr>
              <a:defRPr>
                <a:solidFill>
                  <a:schemeClr val="tx2"/>
                </a:solidFill>
              </a:defRPr>
            </a:lvl1pPr>
          </a:lstStyle>
          <a:p>
            <a:fld id="{87DE6118-2437-4B30-8E3C-4D2BE6020583}" type="datetimeFigureOut">
              <a:rPr lang="en-US" dirty="0"/>
              <a:pPr/>
              <a:t>6/10/2026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1"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25032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371600" y="2295527"/>
            <a:ext cx="9601200" cy="3571875"/>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144196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2" y="624156"/>
            <a:ext cx="1565767" cy="5243244"/>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371601" y="624156"/>
            <a:ext cx="8179641" cy="5243244"/>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4223448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900" baseline="0">
                <a:solidFill>
                  <a:schemeClr val="tx2"/>
                </a:solidFill>
              </a:defRPr>
            </a:lvl1pPr>
          </a:lstStyle>
          <a:p>
            <a:fld id="{87DE6118-2437-4B30-8E3C-4D2BE6020583}" type="datetimeFigureOut">
              <a:rPr lang="en-US" dirty="0"/>
              <a:pPr/>
              <a:t>6/10/2026</a:t>
            </a:fld>
            <a:endParaRPr lang="en-US" dirty="0"/>
          </a:p>
        </p:txBody>
      </p:sp>
      <p:sp>
        <p:nvSpPr>
          <p:cNvPr id="5" name="Footer Placeholder 4"/>
          <p:cNvSpPr>
            <a:spLocks noGrp="1"/>
          </p:cNvSpPr>
          <p:nvPr>
            <p:ph type="ftr" sz="quarter" idx="3"/>
          </p:nvPr>
        </p:nvSpPr>
        <p:spPr>
          <a:xfrm>
            <a:off x="2893565" y="6453386"/>
            <a:ext cx="6280831" cy="404614"/>
          </a:xfrm>
          <a:prstGeom prst="rect">
            <a:avLst/>
          </a:prstGeom>
        </p:spPr>
        <p:txBody>
          <a:bodyPr vert="horz" lIns="91440" tIns="45720" rIns="91440" bIns="45720" rtlCol="0" anchor="ctr"/>
          <a:lstStyle>
            <a:lvl1pPr algn="l">
              <a:defRPr sz="9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7" y="6453386"/>
            <a:ext cx="1596292" cy="404614"/>
          </a:xfrm>
          <a:prstGeom prst="rect">
            <a:avLst/>
          </a:prstGeom>
        </p:spPr>
        <p:txBody>
          <a:bodyPr vert="horz" lIns="91440" tIns="45720" rIns="91440" bIns="45720" rtlCol="0" anchor="ctr"/>
          <a:lstStyle>
            <a:lvl1pPr algn="r">
              <a:defRPr sz="900" baseline="0">
                <a:solidFill>
                  <a:schemeClr val="tx2"/>
                </a:solidFill>
              </a:defRPr>
            </a:lvl1pPr>
          </a:lstStyle>
          <a:p>
            <a:fld id="{69E57DC2-970A-4B3E-BB1C-7A09969E49DF}" type="slidenum">
              <a:rPr lang="en-US" dirty="0"/>
              <a:pPr/>
              <a:t>‹Nº›</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2738404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userDrawn="1">
          <p15:clr>
            <a:srgbClr val="F26B43"/>
          </p15:clr>
        </p15:guide>
        <p15:guide id="4" orient="horz" pos="1440" userDrawn="1">
          <p15:clr>
            <a:srgbClr val="F26B43"/>
          </p15:clr>
        </p15:guide>
        <p15:guide id="6" orient="horz" pos="3696" userDrawn="1">
          <p15:clr>
            <a:srgbClr val="F26B43"/>
          </p15:clr>
        </p15:guide>
        <p15:guide id="7" orient="horz" pos="432" userDrawn="1">
          <p15:clr>
            <a:srgbClr val="F26B43"/>
          </p15:clr>
        </p15:guide>
        <p15:guide id="8" orient="horz" pos="1512" userDrawn="1">
          <p15:clr>
            <a:srgbClr val="F26B43"/>
          </p15:clr>
        </p15:guide>
        <p15:guide id="9" pos="6912" userDrawn="1">
          <p15:clr>
            <a:srgbClr val="F26B43"/>
          </p15:clr>
        </p15:guide>
        <p15:guide id="10" pos="936" userDrawn="1">
          <p15:clr>
            <a:srgbClr val="F26B43"/>
          </p15:clr>
        </p15:guide>
        <p15:guide id="11" pos="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8.xml" /></Relationships>
</file>

<file path=ppt/slides/_rels/slide3.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jpeg" /><Relationship Id="rId1" Type="http://schemas.openxmlformats.org/officeDocument/2006/relationships/slideLayout" Target="../slideLayouts/slideLayout2.xml" /><Relationship Id="rId5" Type="http://schemas.openxmlformats.org/officeDocument/2006/relationships/image" Target="../media/image5.jpeg" /><Relationship Id="rId4" Type="http://schemas.openxmlformats.org/officeDocument/2006/relationships/image" Target="../media/image4.jpeg" /></Relationships>
</file>

<file path=ppt/slides/_rels/slide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7.jpeg" /><Relationship Id="rId1" Type="http://schemas.openxmlformats.org/officeDocument/2006/relationships/slideLayout" Target="../slideLayouts/slideLayout9.xml" /></Relationships>
</file>

<file path=ppt/slides/_rels/slide6.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9.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image" Target="../media/image12.jpe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0B0B0C-37B3-072E-491D-2691D3F3A9CA}"/>
              </a:ext>
            </a:extLst>
          </p:cNvPr>
          <p:cNvSpPr>
            <a:spLocks noGrp="1"/>
          </p:cNvSpPr>
          <p:nvPr>
            <p:ph type="ctrTitle"/>
          </p:nvPr>
        </p:nvSpPr>
        <p:spPr>
          <a:xfrm>
            <a:off x="2212923" y="4094745"/>
            <a:ext cx="7766155" cy="150063"/>
          </a:xfrm>
        </p:spPr>
        <p:txBody>
          <a:bodyPr anchor="b"/>
          <a:lstStyle/>
          <a:p>
            <a:r>
              <a:rPr lang="es-MX" dirty="0" err="1">
                <a:latin typeface="Aldhabi" pitchFamily="2" charset="-78"/>
                <a:cs typeface="Aldhabi" pitchFamily="2" charset="-78"/>
              </a:rPr>
              <a:t>Event</a:t>
            </a:r>
            <a:r>
              <a:rPr lang="es-MX" dirty="0">
                <a:latin typeface="Aldhabi" pitchFamily="2" charset="-78"/>
                <a:cs typeface="Aldhabi" pitchFamily="2" charset="-78"/>
              </a:rPr>
              <a:t> Ticket Management </a:t>
            </a:r>
            <a:r>
              <a:rPr lang="es-MX" dirty="0" err="1">
                <a:latin typeface="Aldhabi" pitchFamily="2" charset="-78"/>
                <a:cs typeface="Aldhabi" pitchFamily="2" charset="-78"/>
              </a:rPr>
              <a:t>System</a:t>
            </a:r>
            <a:endParaRPr lang="es-MX" dirty="0">
              <a:latin typeface="Aldhabi" pitchFamily="2" charset="-78"/>
              <a:cs typeface="Aldhabi" pitchFamily="2" charset="-78"/>
            </a:endParaRPr>
          </a:p>
        </p:txBody>
      </p:sp>
      <p:sp>
        <p:nvSpPr>
          <p:cNvPr id="3" name="Subtítulo 2">
            <a:extLst>
              <a:ext uri="{FF2B5EF4-FFF2-40B4-BE49-F238E27FC236}">
                <a16:creationId xmlns:a16="http://schemas.microsoft.com/office/drawing/2014/main" id="{DB561CB6-BD5E-EBC9-4309-24E71D81602F}"/>
              </a:ext>
            </a:extLst>
          </p:cNvPr>
          <p:cNvSpPr>
            <a:spLocks noGrp="1"/>
          </p:cNvSpPr>
          <p:nvPr>
            <p:ph type="subTitle" idx="1"/>
          </p:nvPr>
        </p:nvSpPr>
        <p:spPr>
          <a:xfrm>
            <a:off x="3534124" y="4094744"/>
            <a:ext cx="5123755" cy="814678"/>
          </a:xfrm>
        </p:spPr>
        <p:txBody>
          <a:bodyPr>
            <a:normAutofit/>
          </a:bodyPr>
          <a:lstStyle/>
          <a:p>
            <a:r>
              <a:rPr lang="es-MX" dirty="0"/>
              <a:t>(Sistema de gestión de entradas para eventos)</a:t>
            </a:r>
          </a:p>
        </p:txBody>
      </p:sp>
    </p:spTree>
    <p:extLst>
      <p:ext uri="{BB962C8B-B14F-4D97-AF65-F5344CB8AC3E}">
        <p14:creationId xmlns:p14="http://schemas.microsoft.com/office/powerpoint/2010/main" val="2669948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6A0D33-F2FD-FA7F-235B-542C36D6B874}"/>
              </a:ext>
            </a:extLst>
          </p:cNvPr>
          <p:cNvSpPr>
            <a:spLocks noGrp="1"/>
          </p:cNvSpPr>
          <p:nvPr>
            <p:ph type="title"/>
          </p:nvPr>
        </p:nvSpPr>
        <p:spPr>
          <a:xfrm>
            <a:off x="5740674" y="1030610"/>
            <a:ext cx="3434585" cy="1618413"/>
          </a:xfrm>
        </p:spPr>
        <p:txBody>
          <a:bodyPr/>
          <a:lstStyle/>
          <a:p>
            <a:r>
              <a:rPr lang="es-MX" dirty="0">
                <a:latin typeface="ADLaM Display" panose="02010000000000000000" pitchFamily="2" charset="0"/>
                <a:ea typeface="ADLaM Display" panose="02010000000000000000" pitchFamily="2" charset="0"/>
                <a:cs typeface="ADLaM Display" panose="02010000000000000000" pitchFamily="2" charset="0"/>
              </a:rPr>
              <a:t>Introducción</a:t>
            </a:r>
            <a:r>
              <a:rPr lang="es-MX" dirty="0"/>
              <a:t>:</a:t>
            </a:r>
          </a:p>
        </p:txBody>
      </p:sp>
      <p:sp>
        <p:nvSpPr>
          <p:cNvPr id="3" name="Marcador de contenido 2">
            <a:extLst>
              <a:ext uri="{FF2B5EF4-FFF2-40B4-BE49-F238E27FC236}">
                <a16:creationId xmlns:a16="http://schemas.microsoft.com/office/drawing/2014/main" id="{6BA5FE9C-C382-DB6B-4435-97F1E4E5D70D}"/>
              </a:ext>
            </a:extLst>
          </p:cNvPr>
          <p:cNvSpPr>
            <a:spLocks noGrp="1"/>
          </p:cNvSpPr>
          <p:nvPr>
            <p:ph idx="1"/>
          </p:nvPr>
        </p:nvSpPr>
        <p:spPr>
          <a:xfrm>
            <a:off x="5925500" y="1817921"/>
            <a:ext cx="4322499" cy="3642740"/>
          </a:xfrm>
        </p:spPr>
        <p:style>
          <a:lnRef idx="2">
            <a:schemeClr val="dk1"/>
          </a:lnRef>
          <a:fillRef idx="1">
            <a:schemeClr val="lt1"/>
          </a:fillRef>
          <a:effectRef idx="0">
            <a:schemeClr val="dk1"/>
          </a:effectRef>
          <a:fontRef idx="minor">
            <a:schemeClr val="dk1"/>
          </a:fontRef>
        </p:style>
        <p:txBody>
          <a:bodyPr>
            <a:normAutofit/>
          </a:bodyPr>
          <a:lstStyle/>
          <a:p>
            <a:r>
              <a:rPr lang="es-MX" dirty="0"/>
              <a:t>Esta plataforma redefine el procesamiento de ventas masivas de entradas mediante una infraestructura en la nube </a:t>
            </a:r>
            <a:r>
              <a:rPr lang="es-MX" dirty="0" err="1"/>
              <a:t>NoSQL</a:t>
            </a:r>
            <a:r>
              <a:rPr lang="es-MX" dirty="0"/>
              <a:t> de alto rendimiento . Desarrollada con Spring </a:t>
            </a:r>
            <a:r>
              <a:rPr lang="es-MX" dirty="0" err="1"/>
              <a:t>Boot</a:t>
            </a:r>
            <a:r>
              <a:rPr lang="es-MX" dirty="0"/>
              <a:t> y </a:t>
            </a:r>
            <a:r>
              <a:rPr lang="es-MX" dirty="0" err="1"/>
              <a:t>MongoDB</a:t>
            </a:r>
            <a:r>
              <a:rPr lang="es-MX" dirty="0"/>
              <a:t> Atlas , el sistema garantiza la ausencia total de pérdida de datos y una consistencia absoluta de los mismos incluso bajo un tráfico concurrente intenso durante las reservas de grandes eventos…</a:t>
            </a:r>
          </a:p>
          <a:p>
            <a:endParaRPr lang="es-MX" dirty="0"/>
          </a:p>
          <a:p>
            <a:r>
              <a:rPr lang="es-MX" dirty="0"/>
              <a:t>A diferencia de las bases de datos relacionales, utilizamos esquemas dinámicos JSON/BSON para que nuestra lógica de negocio evolucione sin problemas sobre la marcha.</a:t>
            </a:r>
          </a:p>
        </p:txBody>
      </p:sp>
      <p:pic>
        <p:nvPicPr>
          <p:cNvPr id="5" name="Imagen 4">
            <a:extLst>
              <a:ext uri="{FF2B5EF4-FFF2-40B4-BE49-F238E27FC236}">
                <a16:creationId xmlns:a16="http://schemas.microsoft.com/office/drawing/2014/main" id="{E6A61C94-EBF0-2FA5-56CE-C3BBFB76AA4F}"/>
              </a:ext>
            </a:extLst>
          </p:cNvPr>
          <p:cNvPicPr>
            <a:picLocks noChangeAspect="1"/>
          </p:cNvPicPr>
          <p:nvPr/>
        </p:nvPicPr>
        <p:blipFill>
          <a:blip r:embed="rId2"/>
          <a:stretch>
            <a:fillRect/>
          </a:stretch>
        </p:blipFill>
        <p:spPr>
          <a:xfrm>
            <a:off x="1114917" y="1817921"/>
            <a:ext cx="3260131" cy="3171333"/>
          </a:xfrm>
          <a:prstGeom prst="ellipse">
            <a:avLst/>
          </a:prstGeom>
          <a:ln>
            <a:noFill/>
          </a:ln>
          <a:effectLst>
            <a:outerShdw blurRad="152400" dist="317500" dir="5400000" sx="90000" sy="-19000" rotWithShape="0">
              <a:prstClr val="black">
                <a:alpha val="15000"/>
              </a:prstClr>
            </a:outerShdw>
            <a:softEdge rad="112500"/>
          </a:effectLst>
        </p:spPr>
      </p:pic>
    </p:spTree>
    <p:extLst>
      <p:ext uri="{BB962C8B-B14F-4D97-AF65-F5344CB8AC3E}">
        <p14:creationId xmlns:p14="http://schemas.microsoft.com/office/powerpoint/2010/main" val="359111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BCF96B0B-0A9C-93BA-36C4-D7FF2F99C991}"/>
              </a:ext>
            </a:extLst>
          </p:cNvPr>
          <p:cNvSpPr txBox="1"/>
          <p:nvPr/>
        </p:nvSpPr>
        <p:spPr>
          <a:xfrm rot="10800000" flipV="1">
            <a:off x="1858921" y="210090"/>
            <a:ext cx="6474377" cy="415498"/>
          </a:xfrm>
          <a:prstGeom prst="rect">
            <a:avLst/>
          </a:prstGeom>
          <a:noFill/>
        </p:spPr>
        <p:txBody>
          <a:bodyPr wrap="square" rtlCol="0">
            <a:spAutoFit/>
          </a:bodyPr>
          <a:lstStyle/>
          <a:p>
            <a:pPr algn="l"/>
            <a:r>
              <a:rPr lang="es-MX" sz="2100" b="1" dirty="0"/>
              <a:t>INTEGRANTES</a:t>
            </a:r>
            <a:r>
              <a:rPr lang="es-MX" sz="1350" dirty="0"/>
              <a:t>: </a:t>
            </a:r>
          </a:p>
        </p:txBody>
      </p:sp>
      <p:sp>
        <p:nvSpPr>
          <p:cNvPr id="7" name="CuadroTexto 6">
            <a:extLst>
              <a:ext uri="{FF2B5EF4-FFF2-40B4-BE49-F238E27FC236}">
                <a16:creationId xmlns:a16="http://schemas.microsoft.com/office/drawing/2014/main" id="{0AD3BABF-4351-4BA3-557B-F78261358382}"/>
              </a:ext>
            </a:extLst>
          </p:cNvPr>
          <p:cNvSpPr txBox="1"/>
          <p:nvPr/>
        </p:nvSpPr>
        <p:spPr>
          <a:xfrm>
            <a:off x="2045760" y="879670"/>
            <a:ext cx="6862182" cy="646331"/>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lstStyle/>
          <a:p>
            <a:pPr algn="ctr"/>
            <a:r>
              <a:rPr lang="es-MX" sz="1800" dirty="0"/>
              <a:t>Diana Hernández Antonio (DH) :</a:t>
            </a:r>
          </a:p>
          <a:p>
            <a:pPr algn="ctr"/>
            <a:r>
              <a:rPr lang="es-MX" sz="1800" dirty="0" err="1"/>
              <a:t>Product</a:t>
            </a:r>
            <a:r>
              <a:rPr lang="es-MX" sz="1800" dirty="0"/>
              <a:t> </a:t>
            </a:r>
            <a:r>
              <a:rPr lang="es-MX" sz="1800" dirty="0" err="1"/>
              <a:t>Owner</a:t>
            </a:r>
            <a:r>
              <a:rPr lang="es-MX" sz="1800" dirty="0"/>
              <a:t>, Data </a:t>
            </a:r>
            <a:r>
              <a:rPr lang="es-MX" sz="1800" dirty="0" err="1"/>
              <a:t>Modeler</a:t>
            </a:r>
            <a:r>
              <a:rPr lang="es-MX" sz="1800" dirty="0"/>
              <a:t> — </a:t>
            </a:r>
            <a:r>
              <a:rPr lang="es-MX" sz="1800" dirty="0" err="1"/>
              <a:t>Document</a:t>
            </a:r>
            <a:r>
              <a:rPr lang="es-MX" sz="1800" dirty="0"/>
              <a:t> </a:t>
            </a:r>
            <a:r>
              <a:rPr lang="es-MX" sz="1800" dirty="0" err="1"/>
              <a:t>Architect</a:t>
            </a:r>
            <a:endParaRPr lang="es-MX" sz="1800" dirty="0"/>
          </a:p>
        </p:txBody>
      </p:sp>
      <p:sp>
        <p:nvSpPr>
          <p:cNvPr id="8" name="CuadroTexto 7">
            <a:extLst>
              <a:ext uri="{FF2B5EF4-FFF2-40B4-BE49-F238E27FC236}">
                <a16:creationId xmlns:a16="http://schemas.microsoft.com/office/drawing/2014/main" id="{2D051092-0BD2-349B-4984-45BFCD7C0274}"/>
              </a:ext>
            </a:extLst>
          </p:cNvPr>
          <p:cNvSpPr txBox="1"/>
          <p:nvPr/>
        </p:nvSpPr>
        <p:spPr>
          <a:xfrm>
            <a:off x="3527125" y="2533690"/>
            <a:ext cx="7116805" cy="646331"/>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lstStyle/>
          <a:p>
            <a:pPr algn="ctr"/>
            <a:r>
              <a:rPr lang="es-MX" sz="1800" dirty="0"/>
              <a:t>Uriel López </a:t>
            </a:r>
            <a:r>
              <a:rPr lang="es-MX" sz="1800" dirty="0" err="1"/>
              <a:t>Xochiquiquixqui</a:t>
            </a:r>
            <a:r>
              <a:rPr lang="es-MX" sz="1800" dirty="0"/>
              <a:t> (UL) :	</a:t>
            </a:r>
          </a:p>
          <a:p>
            <a:pPr algn="ctr"/>
            <a:r>
              <a:rPr lang="es-MX" sz="1800" dirty="0" err="1"/>
              <a:t>Scrum</a:t>
            </a:r>
            <a:r>
              <a:rPr lang="es-MX" sz="1800" dirty="0"/>
              <a:t> Master	, </a:t>
            </a:r>
            <a:r>
              <a:rPr lang="es-MX" sz="1800" dirty="0" err="1"/>
              <a:t>Backend</a:t>
            </a:r>
            <a:r>
              <a:rPr lang="es-MX" sz="1800" dirty="0"/>
              <a:t> </a:t>
            </a:r>
            <a:r>
              <a:rPr lang="es-MX" sz="1800" dirty="0" err="1"/>
              <a:t>Developer</a:t>
            </a:r>
            <a:r>
              <a:rPr lang="es-MX" sz="1800" dirty="0"/>
              <a:t> — Spring </a:t>
            </a:r>
            <a:r>
              <a:rPr lang="es-MX" sz="1800" dirty="0" err="1"/>
              <a:t>Engineer</a:t>
            </a:r>
            <a:endParaRPr lang="es-MX" sz="1800" dirty="0"/>
          </a:p>
        </p:txBody>
      </p:sp>
      <p:sp>
        <p:nvSpPr>
          <p:cNvPr id="9" name="CuadroTexto 8">
            <a:extLst>
              <a:ext uri="{FF2B5EF4-FFF2-40B4-BE49-F238E27FC236}">
                <a16:creationId xmlns:a16="http://schemas.microsoft.com/office/drawing/2014/main" id="{F7AFA6AF-4D73-CB4D-B209-0E9DDBCA3402}"/>
              </a:ext>
            </a:extLst>
          </p:cNvPr>
          <p:cNvSpPr txBox="1"/>
          <p:nvPr/>
        </p:nvSpPr>
        <p:spPr>
          <a:xfrm>
            <a:off x="2200170" y="3888840"/>
            <a:ext cx="6553361" cy="646331"/>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lstStyle/>
          <a:p>
            <a:pPr algn="ctr"/>
            <a:r>
              <a:rPr lang="es-MX" sz="1800"/>
              <a:t>Uriel Martínez Bian (UM) :</a:t>
            </a:r>
          </a:p>
          <a:p>
            <a:pPr algn="ctr"/>
            <a:r>
              <a:rPr lang="es-MX" sz="1800"/>
              <a:t>Core Developer, The Query Developer — MQL Expert</a:t>
            </a:r>
            <a:endParaRPr lang="es-MX" sz="1800" dirty="0"/>
          </a:p>
        </p:txBody>
      </p:sp>
      <p:sp>
        <p:nvSpPr>
          <p:cNvPr id="10" name="CuadroTexto 9">
            <a:extLst>
              <a:ext uri="{FF2B5EF4-FFF2-40B4-BE49-F238E27FC236}">
                <a16:creationId xmlns:a16="http://schemas.microsoft.com/office/drawing/2014/main" id="{CD6BB4DE-D963-07CE-3D33-73D99CC971E0}"/>
              </a:ext>
            </a:extLst>
          </p:cNvPr>
          <p:cNvSpPr txBox="1"/>
          <p:nvPr/>
        </p:nvSpPr>
        <p:spPr>
          <a:xfrm>
            <a:off x="3933073" y="5274227"/>
            <a:ext cx="6451451"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1800" dirty="0"/>
              <a:t>Juan Pablo Domínguez Sarmiento (JP) :</a:t>
            </a:r>
          </a:p>
          <a:p>
            <a:pPr algn="ctr"/>
            <a:r>
              <a:rPr lang="es-MX" sz="1800" dirty="0" err="1"/>
              <a:t>Support</a:t>
            </a:r>
            <a:r>
              <a:rPr lang="es-MX" sz="1800" dirty="0"/>
              <a:t> </a:t>
            </a:r>
            <a:r>
              <a:rPr lang="es-MX" sz="1800" dirty="0" err="1"/>
              <a:t>Engineer</a:t>
            </a:r>
            <a:r>
              <a:rPr lang="es-MX" sz="1800" dirty="0"/>
              <a:t>, QA </a:t>
            </a:r>
            <a:r>
              <a:rPr lang="es-MX" sz="1800" dirty="0" err="1"/>
              <a:t>Assistant</a:t>
            </a:r>
            <a:r>
              <a:rPr lang="es-MX" sz="1800" dirty="0"/>
              <a:t> — </a:t>
            </a:r>
            <a:r>
              <a:rPr lang="es-MX" sz="1800" dirty="0" err="1"/>
              <a:t>Infrastructure</a:t>
            </a:r>
            <a:r>
              <a:rPr lang="es-MX" sz="1800" dirty="0"/>
              <a:t> &amp; </a:t>
            </a:r>
            <a:r>
              <a:rPr lang="es-MX" sz="1800" dirty="0" err="1"/>
              <a:t>Seeding</a:t>
            </a:r>
            <a:endParaRPr lang="es-MX" sz="1800" dirty="0"/>
          </a:p>
        </p:txBody>
      </p:sp>
      <p:pic>
        <p:nvPicPr>
          <p:cNvPr id="11" name="Imagen 10">
            <a:extLst>
              <a:ext uri="{FF2B5EF4-FFF2-40B4-BE49-F238E27FC236}">
                <a16:creationId xmlns:a16="http://schemas.microsoft.com/office/drawing/2014/main" id="{D0AA7D38-B2C3-A135-0E5D-F5CAAC976B02}"/>
              </a:ext>
            </a:extLst>
          </p:cNvPr>
          <p:cNvPicPr>
            <a:picLocks noChangeAspect="1"/>
          </p:cNvPicPr>
          <p:nvPr/>
        </p:nvPicPr>
        <p:blipFill>
          <a:blip r:embed="rId2"/>
          <a:stretch>
            <a:fillRect/>
          </a:stretch>
        </p:blipFill>
        <p:spPr>
          <a:xfrm>
            <a:off x="8564215" y="417839"/>
            <a:ext cx="1897774" cy="181508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2" name="Imagen 11">
            <a:extLst>
              <a:ext uri="{FF2B5EF4-FFF2-40B4-BE49-F238E27FC236}">
                <a16:creationId xmlns:a16="http://schemas.microsoft.com/office/drawing/2014/main" id="{040382ED-3009-A5B0-9924-D09CFA9CCACF}"/>
              </a:ext>
            </a:extLst>
          </p:cNvPr>
          <p:cNvPicPr>
            <a:picLocks noChangeAspect="1"/>
          </p:cNvPicPr>
          <p:nvPr/>
        </p:nvPicPr>
        <p:blipFill>
          <a:blip r:embed="rId3"/>
          <a:stretch>
            <a:fillRect/>
          </a:stretch>
        </p:blipFill>
        <p:spPr>
          <a:xfrm>
            <a:off x="2045760" y="4679367"/>
            <a:ext cx="1991955" cy="192287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3" name="Imagen 12">
            <a:extLst>
              <a:ext uri="{FF2B5EF4-FFF2-40B4-BE49-F238E27FC236}">
                <a16:creationId xmlns:a16="http://schemas.microsoft.com/office/drawing/2014/main" id="{76759F41-F373-89D5-EFCB-886B47573F5F}"/>
              </a:ext>
            </a:extLst>
          </p:cNvPr>
          <p:cNvPicPr>
            <a:picLocks noChangeAspect="1"/>
          </p:cNvPicPr>
          <p:nvPr/>
        </p:nvPicPr>
        <p:blipFill>
          <a:blip r:embed="rId4"/>
          <a:stretch>
            <a:fillRect/>
          </a:stretch>
        </p:blipFill>
        <p:spPr>
          <a:xfrm>
            <a:off x="8541668" y="3281239"/>
            <a:ext cx="1812942" cy="181294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 name="Imagen 1">
            <a:extLst>
              <a:ext uri="{FF2B5EF4-FFF2-40B4-BE49-F238E27FC236}">
                <a16:creationId xmlns:a16="http://schemas.microsoft.com/office/drawing/2014/main" id="{3BEA5F43-1414-DAF2-ACA3-ACDC1AB9E997}"/>
              </a:ext>
            </a:extLst>
          </p:cNvPr>
          <p:cNvPicPr>
            <a:picLocks noChangeAspect="1"/>
          </p:cNvPicPr>
          <p:nvPr/>
        </p:nvPicPr>
        <p:blipFill>
          <a:blip r:embed="rId5"/>
          <a:stretch>
            <a:fillRect/>
          </a:stretch>
        </p:blipFill>
        <p:spPr>
          <a:xfrm>
            <a:off x="1947641" y="1868891"/>
            <a:ext cx="1879571" cy="185093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468623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2BE682-26D4-6BEF-3280-61D7B5C90526}"/>
              </a:ext>
            </a:extLst>
          </p:cNvPr>
          <p:cNvSpPr>
            <a:spLocks noGrp="1"/>
          </p:cNvSpPr>
          <p:nvPr>
            <p:ph type="title"/>
          </p:nvPr>
        </p:nvSpPr>
        <p:spPr/>
        <p:txBody>
          <a:bodyPr/>
          <a:lstStyle/>
          <a:p>
            <a:pPr marL="428625" indent="-428625">
              <a:buFont typeface="Arial" panose="020B0604020202020204" pitchFamily="34" charset="0"/>
              <a:buChar char="•"/>
            </a:pPr>
            <a:r>
              <a:rPr lang="es-MX" dirty="0"/>
              <a:t>Cómo primer punto:</a:t>
            </a:r>
          </a:p>
        </p:txBody>
      </p:sp>
      <p:sp>
        <p:nvSpPr>
          <p:cNvPr id="3" name="Marcador de contenido 2">
            <a:extLst>
              <a:ext uri="{FF2B5EF4-FFF2-40B4-BE49-F238E27FC236}">
                <a16:creationId xmlns:a16="http://schemas.microsoft.com/office/drawing/2014/main" id="{328A74E0-5C9E-F91F-7C71-6F92380CB791}"/>
              </a:ext>
            </a:extLst>
          </p:cNvPr>
          <p:cNvSpPr>
            <a:spLocks noGrp="1"/>
          </p:cNvSpPr>
          <p:nvPr>
            <p:ph idx="1"/>
          </p:nvPr>
        </p:nvSpPr>
        <p:spPr>
          <a:xfrm>
            <a:off x="2552700" y="1903271"/>
            <a:ext cx="7200900" cy="2686050"/>
          </a:xfrm>
        </p:spPr>
        <p:txBody>
          <a:bodyPr>
            <a:normAutofit/>
          </a:bodyPr>
          <a:lstStyle/>
          <a:p>
            <a:pPr marL="0" indent="0">
              <a:buNone/>
            </a:pPr>
            <a:r>
              <a:rPr lang="es-MX" sz="1800" dirty="0"/>
              <a:t>Al inicio del semestre se nos asignaron los roles, aquellos que con el paso de los parciales cambiarían dependiendo a las ventajas y habilidades de cada uno de los integrantes. Esto bien jugó un papel importante, ¿Por qué?, fácil, así nos organizamos de una mejor manera. </a:t>
            </a:r>
          </a:p>
        </p:txBody>
      </p:sp>
      <p:sp>
        <p:nvSpPr>
          <p:cNvPr id="4" name="CuadroTexto 3">
            <a:extLst>
              <a:ext uri="{FF2B5EF4-FFF2-40B4-BE49-F238E27FC236}">
                <a16:creationId xmlns:a16="http://schemas.microsoft.com/office/drawing/2014/main" id="{69CE2880-D85C-D0B2-F5BD-2A8E8A7814CB}"/>
              </a:ext>
            </a:extLst>
          </p:cNvPr>
          <p:cNvSpPr txBox="1"/>
          <p:nvPr/>
        </p:nvSpPr>
        <p:spPr>
          <a:xfrm>
            <a:off x="4722160" y="3500212"/>
            <a:ext cx="5945840" cy="1200329"/>
          </a:xfrm>
          <a:prstGeom prst="rect">
            <a:avLst/>
          </a:prstGeom>
          <a:noFill/>
        </p:spPr>
        <p:txBody>
          <a:bodyPr wrap="square" rtlCol="0" anchor="b">
            <a:spAutoFit/>
          </a:bodyPr>
          <a:lstStyle/>
          <a:p>
            <a:pPr algn="r"/>
            <a:r>
              <a:rPr lang="es-MX" sz="1800" dirty="0"/>
              <a:t>Elegimos el tema, el cual se nos dijo que se mantendría en constantes actualizaciones durante las semanas, también el repositorio, si!, exactamente!, hablo de </a:t>
            </a:r>
            <a:r>
              <a:rPr lang="es-MX" sz="1800" b="1" dirty="0"/>
              <a:t>GitHub</a:t>
            </a:r>
            <a:r>
              <a:rPr lang="es-MX" sz="1800" dirty="0"/>
              <a:t>, ahí todo es documentado, carpetas específicas, un orden seguido.</a:t>
            </a:r>
          </a:p>
        </p:txBody>
      </p:sp>
      <p:pic>
        <p:nvPicPr>
          <p:cNvPr id="6" name="Imagen 5">
            <a:extLst>
              <a:ext uri="{FF2B5EF4-FFF2-40B4-BE49-F238E27FC236}">
                <a16:creationId xmlns:a16="http://schemas.microsoft.com/office/drawing/2014/main" id="{7FF5AE49-8C6B-E326-EA4F-E8AD4FC05E6B}"/>
              </a:ext>
            </a:extLst>
          </p:cNvPr>
          <p:cNvPicPr>
            <a:picLocks noChangeAspect="1"/>
          </p:cNvPicPr>
          <p:nvPr/>
        </p:nvPicPr>
        <p:blipFill>
          <a:blip r:embed="rId2"/>
          <a:stretch>
            <a:fillRect/>
          </a:stretch>
        </p:blipFill>
        <p:spPr>
          <a:xfrm>
            <a:off x="1814671" y="3389171"/>
            <a:ext cx="2316939" cy="2316939"/>
          </a:xfrm>
          <a:prstGeom prst="ellipse">
            <a:avLst/>
          </a:prstGeom>
          <a:ln w="190500" cap="rnd">
            <a:solidFill>
              <a:srgbClr val="C8C6BD"/>
            </a:solidFill>
            <a:prstDash val="solid"/>
          </a:ln>
          <a:effectLst>
            <a:outerShdw blurRad="76200" dir="18900000" sy="23000" kx="-1200000" algn="bl" rotWithShape="0">
              <a:prstClr val="black">
                <a:alpha val="20000"/>
              </a:prstClr>
            </a:outerShdw>
            <a:reflection blurRad="6350" stA="50000" endA="300" endPos="55000" dir="5400000" sy="-100000" algn="bl" rotWithShape="0"/>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3634756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posición de imagen 6">
            <a:extLst>
              <a:ext uri="{FF2B5EF4-FFF2-40B4-BE49-F238E27FC236}">
                <a16:creationId xmlns:a16="http://schemas.microsoft.com/office/drawing/2014/main" id="{A473CA91-16B0-E415-B223-8FB27FBF1197}"/>
              </a:ext>
            </a:extLst>
          </p:cNvPr>
          <p:cNvPicPr>
            <a:picLocks noGrp="1" noChangeAspect="1"/>
          </p:cNvPicPr>
          <p:nvPr>
            <p:ph type="pic" idx="1"/>
          </p:nvPr>
        </p:nvPicPr>
        <p:blipFill>
          <a:blip r:embed="rId2"/>
          <a:srcRect l="1447" r="1447"/>
          <a:stretch/>
        </p:blipFill>
        <p:spPr>
          <a:xfrm>
            <a:off x="677132" y="3160678"/>
            <a:ext cx="1878860" cy="1969825"/>
          </a:xfrm>
          <a:prstGeom prst="ellipse">
            <a:avLst/>
          </a:prstGeom>
          <a:ln>
            <a:noFill/>
          </a:ln>
          <a:effectLst>
            <a:reflection blurRad="6350" stA="52000" endA="300" endPos="35000" dir="5400000" sy="-100000" algn="bl" rotWithShape="0"/>
            <a:softEdge rad="112500"/>
          </a:effectLst>
        </p:spPr>
      </p:pic>
      <p:sp>
        <p:nvSpPr>
          <p:cNvPr id="3" name="Marcador de contenido 2">
            <a:extLst>
              <a:ext uri="{FF2B5EF4-FFF2-40B4-BE49-F238E27FC236}">
                <a16:creationId xmlns:a16="http://schemas.microsoft.com/office/drawing/2014/main" id="{96E5970C-B516-4721-8E35-E322504AE721}"/>
              </a:ext>
            </a:extLst>
          </p:cNvPr>
          <p:cNvSpPr>
            <a:spLocks noGrp="1"/>
          </p:cNvSpPr>
          <p:nvPr>
            <p:ph type="body" sz="half" idx="2"/>
          </p:nvPr>
        </p:nvSpPr>
        <p:spPr>
          <a:xfrm>
            <a:off x="960185" y="1707897"/>
            <a:ext cx="3191615" cy="1290756"/>
          </a:xfrm>
        </p:spPr>
        <p:txBody>
          <a:bodyPr>
            <a:normAutofit/>
          </a:bodyPr>
          <a:lstStyle/>
          <a:p>
            <a:r>
              <a:rPr lang="es-MX" sz="1800" b="1" dirty="0"/>
              <a:t>Bueno, pasemos a lo interesante (bueno, según yo).</a:t>
            </a:r>
          </a:p>
          <a:p>
            <a:endParaRPr lang="es-MX" sz="1800" b="1" dirty="0"/>
          </a:p>
        </p:txBody>
      </p:sp>
      <p:sp>
        <p:nvSpPr>
          <p:cNvPr id="8" name="CuadroTexto 7">
            <a:extLst>
              <a:ext uri="{FF2B5EF4-FFF2-40B4-BE49-F238E27FC236}">
                <a16:creationId xmlns:a16="http://schemas.microsoft.com/office/drawing/2014/main" id="{3C1BEFFA-A57D-6941-B344-41084F2A6981}"/>
              </a:ext>
            </a:extLst>
          </p:cNvPr>
          <p:cNvSpPr txBox="1"/>
          <p:nvPr/>
        </p:nvSpPr>
        <p:spPr>
          <a:xfrm>
            <a:off x="6096000" y="776899"/>
            <a:ext cx="4663476" cy="1477328"/>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pPr algn="l"/>
            <a:r>
              <a:rPr lang="es-MX" sz="1800" dirty="0"/>
              <a:t>¿De que manera se estuvo trabajando?</a:t>
            </a:r>
          </a:p>
          <a:p>
            <a:pPr algn="l"/>
            <a:r>
              <a:rPr lang="es-MX" sz="1800" dirty="0"/>
              <a:t>A comparación de los anteriores parciales está vez hubo una mejor organización, si, no todo fue claro, pero gracias a ese “</a:t>
            </a:r>
            <a:r>
              <a:rPr lang="es-MX" sz="1800" b="1" dirty="0"/>
              <a:t>margen</a:t>
            </a:r>
            <a:r>
              <a:rPr lang="es-MX" sz="1800" dirty="0"/>
              <a:t>” de errores que teníamos todo se pudo modificar. </a:t>
            </a:r>
          </a:p>
        </p:txBody>
      </p:sp>
      <p:sp>
        <p:nvSpPr>
          <p:cNvPr id="9" name="CuadroTexto 8">
            <a:extLst>
              <a:ext uri="{FF2B5EF4-FFF2-40B4-BE49-F238E27FC236}">
                <a16:creationId xmlns:a16="http://schemas.microsoft.com/office/drawing/2014/main" id="{F143C13E-2760-1170-164F-D16AA6804FCB}"/>
              </a:ext>
            </a:extLst>
          </p:cNvPr>
          <p:cNvSpPr txBox="1"/>
          <p:nvPr/>
        </p:nvSpPr>
        <p:spPr>
          <a:xfrm>
            <a:off x="6030660" y="2738180"/>
            <a:ext cx="5518167" cy="3477875"/>
          </a:xfrm>
          <a:prstGeom prst="rect">
            <a:avLst/>
          </a:prstGeom>
          <a:solidFill>
            <a:schemeClr val="accent5">
              <a:lumMod val="40000"/>
              <a:lumOff val="60000"/>
            </a:schemeClr>
          </a:solidFill>
        </p:spPr>
        <p:style>
          <a:lnRef idx="2">
            <a:schemeClr val="accent3"/>
          </a:lnRef>
          <a:fillRef idx="1">
            <a:schemeClr val="lt1"/>
          </a:fillRef>
          <a:effectRef idx="0">
            <a:schemeClr val="accent3"/>
          </a:effectRef>
          <a:fontRef idx="minor">
            <a:schemeClr val="dk1"/>
          </a:fontRef>
        </p:style>
        <p:txBody>
          <a:bodyPr wrap="square" rtlCol="0" anchor="b">
            <a:spAutoFit/>
          </a:bodyPr>
          <a:lstStyle/>
          <a:p>
            <a:pPr algn="ctr"/>
            <a:r>
              <a:rPr lang="es-MX" sz="2000" dirty="0">
                <a:solidFill>
                  <a:schemeClr val="tx2">
                    <a:lumMod val="90000"/>
                    <a:lumOff val="10000"/>
                  </a:schemeClr>
                </a:solidFill>
              </a:rPr>
              <a:t>Inicio de semana, cosas que fueron modificadas para un mejor apartado en orden, un ejemplo de ello: el </a:t>
            </a:r>
            <a:r>
              <a:rPr lang="es-MX" sz="2000" dirty="0" err="1">
                <a:solidFill>
                  <a:schemeClr val="tx2">
                    <a:lumMod val="90000"/>
                    <a:lumOff val="10000"/>
                  </a:schemeClr>
                </a:solidFill>
              </a:rPr>
              <a:t>README.md</a:t>
            </a:r>
            <a:r>
              <a:rPr lang="es-MX" sz="2000" dirty="0">
                <a:solidFill>
                  <a:schemeClr val="tx2">
                    <a:lumMod val="90000"/>
                    <a:lumOff val="10000"/>
                  </a:schemeClr>
                </a:solidFill>
              </a:rPr>
              <a:t>, lo cual fue renovado por el </a:t>
            </a:r>
            <a:r>
              <a:rPr lang="es-MX" sz="2000" dirty="0" err="1">
                <a:solidFill>
                  <a:schemeClr val="tx2">
                    <a:lumMod val="90000"/>
                    <a:lumOff val="10000"/>
                  </a:schemeClr>
                </a:solidFill>
              </a:rPr>
              <a:t>Scrum</a:t>
            </a:r>
            <a:r>
              <a:rPr lang="es-MX" sz="2000" dirty="0">
                <a:solidFill>
                  <a:schemeClr val="tx2">
                    <a:lumMod val="90000"/>
                    <a:lumOff val="10000"/>
                  </a:schemeClr>
                </a:solidFill>
              </a:rPr>
              <a:t> Master, gracias a las nuevas “mejoras” es mucho más llamativa que anteriores.</a:t>
            </a:r>
          </a:p>
          <a:p>
            <a:pPr algn="ctr"/>
            <a:r>
              <a:rPr lang="es-MX" sz="2000" dirty="0">
                <a:solidFill>
                  <a:schemeClr val="tx2">
                    <a:lumMod val="90000"/>
                    <a:lumOff val="10000"/>
                  </a:schemeClr>
                </a:solidFill>
              </a:rPr>
              <a:t>Tener un buen </a:t>
            </a:r>
            <a:r>
              <a:rPr lang="es-MX" sz="2000" dirty="0" err="1">
                <a:solidFill>
                  <a:schemeClr val="tx2">
                    <a:lumMod val="90000"/>
                    <a:lumOff val="10000"/>
                  </a:schemeClr>
                </a:solidFill>
              </a:rPr>
              <a:t>README.md</a:t>
            </a:r>
            <a:r>
              <a:rPr lang="es-MX" sz="2000" dirty="0">
                <a:solidFill>
                  <a:schemeClr val="tx2">
                    <a:lumMod val="90000"/>
                    <a:lumOff val="10000"/>
                  </a:schemeClr>
                </a:solidFill>
              </a:rPr>
              <a:t> es crucial porque funciona como la tarjeta de presentación, el manual de instrucciones y la cara pública del proyecto. </a:t>
            </a:r>
          </a:p>
          <a:p>
            <a:pPr algn="ctr"/>
            <a:endParaRPr lang="es-MX" sz="2000" dirty="0">
              <a:solidFill>
                <a:schemeClr val="tx2">
                  <a:lumMod val="90000"/>
                  <a:lumOff val="10000"/>
                </a:schemeClr>
              </a:solidFill>
            </a:endParaRPr>
          </a:p>
          <a:p>
            <a:pPr algn="ctr"/>
            <a:endParaRPr lang="es-MX" sz="2000" dirty="0">
              <a:solidFill>
                <a:schemeClr val="tx2">
                  <a:lumMod val="90000"/>
                  <a:lumOff val="10000"/>
                </a:schemeClr>
              </a:solidFill>
            </a:endParaRPr>
          </a:p>
        </p:txBody>
      </p:sp>
      <p:pic>
        <p:nvPicPr>
          <p:cNvPr id="2" name="Imagen 1">
            <a:extLst>
              <a:ext uri="{FF2B5EF4-FFF2-40B4-BE49-F238E27FC236}">
                <a16:creationId xmlns:a16="http://schemas.microsoft.com/office/drawing/2014/main" id="{887A1A76-5E77-E106-803B-996EC3F2D8C1}"/>
              </a:ext>
            </a:extLst>
          </p:cNvPr>
          <p:cNvPicPr>
            <a:picLocks noChangeAspect="1"/>
          </p:cNvPicPr>
          <p:nvPr/>
        </p:nvPicPr>
        <p:blipFill>
          <a:blip r:embed="rId3"/>
          <a:stretch>
            <a:fillRect/>
          </a:stretch>
        </p:blipFill>
        <p:spPr>
          <a:xfrm>
            <a:off x="2555992" y="3182647"/>
            <a:ext cx="1968567" cy="1967456"/>
          </a:xfrm>
          <a:prstGeom prst="ellipse">
            <a:avLst/>
          </a:prstGeom>
          <a:ln>
            <a:noFill/>
          </a:ln>
          <a:effectLst>
            <a:reflection blurRad="6350" stA="52000" endA="300" endPos="35000" dir="5400000" sy="-100000" algn="bl" rotWithShape="0"/>
            <a:softEdge rad="112500"/>
          </a:effectLst>
        </p:spPr>
      </p:pic>
    </p:spTree>
    <p:extLst>
      <p:ext uri="{BB962C8B-B14F-4D97-AF65-F5344CB8AC3E}">
        <p14:creationId xmlns:p14="http://schemas.microsoft.com/office/powerpoint/2010/main" val="1140674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77F0D4F3-CC0C-B49B-CE7F-A301A6DC5AA5}"/>
              </a:ext>
            </a:extLst>
          </p:cNvPr>
          <p:cNvSpPr>
            <a:spLocks noGrp="1"/>
          </p:cNvSpPr>
          <p:nvPr>
            <p:ph idx="1"/>
          </p:nvPr>
        </p:nvSpPr>
        <p:spPr>
          <a:xfrm>
            <a:off x="1170395" y="348974"/>
            <a:ext cx="7064287" cy="1830156"/>
          </a:xfrm>
          <a:solidFill>
            <a:schemeClr val="tx2">
              <a:lumMod val="25000"/>
              <a:lumOff val="75000"/>
            </a:schemeClr>
          </a:solidFill>
          <a:ln>
            <a:solidFill>
              <a:schemeClr val="accent1"/>
            </a:solidFill>
          </a:ln>
        </p:spPr>
        <p:txBody>
          <a:bodyPr>
            <a:noAutofit/>
          </a:bodyPr>
          <a:lstStyle/>
          <a:p>
            <a:pPr marL="0" indent="0" algn="ctr">
              <a:buNone/>
            </a:pPr>
            <a:r>
              <a:rPr lang="es-MX" dirty="0"/>
              <a:t>Se organizó al equipo para mejorar la gestión de tareas y entregables, optimizando los tiempos de trabajo. También se realizaron consultas con los operadores de los roles C y A, quienes dan seguimiento al proceso. La herramienta B ayudó a mantener una mejor organización y coordinación durante el desarrollo de las actividades.</a:t>
            </a:r>
          </a:p>
        </p:txBody>
      </p:sp>
      <p:sp>
        <p:nvSpPr>
          <p:cNvPr id="2" name="CuadroTexto 1">
            <a:extLst>
              <a:ext uri="{FF2B5EF4-FFF2-40B4-BE49-F238E27FC236}">
                <a16:creationId xmlns:a16="http://schemas.microsoft.com/office/drawing/2014/main" id="{4EA2B106-A519-8EF5-DE97-99ACED301E33}"/>
              </a:ext>
            </a:extLst>
          </p:cNvPr>
          <p:cNvSpPr txBox="1"/>
          <p:nvPr/>
        </p:nvSpPr>
        <p:spPr>
          <a:xfrm>
            <a:off x="4562067" y="3730124"/>
            <a:ext cx="7345230" cy="286232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wrap="square" rtlCol="0">
            <a:spAutoFit/>
          </a:bodyPr>
          <a:lstStyle/>
          <a:p>
            <a:pPr algn="l"/>
            <a:r>
              <a:rPr lang="es-MX" sz="1800" dirty="0"/>
              <a:t>Las mejoras contempladas en el </a:t>
            </a:r>
            <a:r>
              <a:rPr lang="es-MX" sz="1800" b="1" dirty="0"/>
              <a:t>PRODUCT BACKLOG </a:t>
            </a:r>
            <a:r>
              <a:rPr lang="es-MX" sz="1800" dirty="0"/>
              <a:t>ya habían sido implementadas bajo la supervisión del </a:t>
            </a:r>
            <a:r>
              <a:rPr lang="es-MX" sz="1800" b="1" dirty="0" err="1"/>
              <a:t>Scrum</a:t>
            </a:r>
            <a:r>
              <a:rPr lang="es-MX" sz="1800" b="1" dirty="0"/>
              <a:t> Master </a:t>
            </a:r>
            <a:r>
              <a:rPr lang="es-MX" sz="1800" dirty="0"/>
              <a:t>del equipo. Inicialmente, se había previsto que durante las semanas correspondientes participarían principalmente los roles B y C. No obstante, considerando que en el parcial anterior el rol B había concentrado gran parte de las actividades, se realizó una reestructuración previa de funciones. En consecuencia, se acordó que el </a:t>
            </a:r>
            <a:r>
              <a:rPr lang="es-MX" sz="1800" b="1" dirty="0" err="1"/>
              <a:t>The</a:t>
            </a:r>
            <a:r>
              <a:rPr lang="es-MX" sz="1800" b="1" dirty="0"/>
              <a:t> </a:t>
            </a:r>
            <a:r>
              <a:rPr lang="es-MX" sz="1800" b="1" dirty="0" err="1"/>
              <a:t>Query</a:t>
            </a:r>
            <a:r>
              <a:rPr lang="es-MX" sz="1800" b="1" dirty="0"/>
              <a:t> </a:t>
            </a:r>
            <a:r>
              <a:rPr lang="es-MX" sz="1800" b="1" dirty="0" err="1"/>
              <a:t>Developer</a:t>
            </a:r>
            <a:r>
              <a:rPr lang="es-MX" sz="1800" b="1" dirty="0"/>
              <a:t> </a:t>
            </a:r>
            <a:r>
              <a:rPr lang="es-MX" sz="1800" dirty="0"/>
              <a:t>liderara y orientara las actividades de </a:t>
            </a:r>
            <a:r>
              <a:rPr lang="es-MX" sz="1800" b="1" dirty="0" err="1"/>
              <a:t>The</a:t>
            </a:r>
            <a:r>
              <a:rPr lang="es-MX" sz="1800" b="1" dirty="0"/>
              <a:t> </a:t>
            </a:r>
            <a:r>
              <a:rPr lang="es-MX" sz="1800" b="1" dirty="0" err="1"/>
              <a:t>Integration</a:t>
            </a:r>
            <a:r>
              <a:rPr lang="es-MX" sz="1800" b="1" dirty="0"/>
              <a:t> </a:t>
            </a:r>
            <a:r>
              <a:rPr lang="es-MX" sz="1800" b="1" dirty="0" err="1"/>
              <a:t>Specialist</a:t>
            </a:r>
            <a:r>
              <a:rPr lang="es-MX" sz="1800" dirty="0"/>
              <a:t> y </a:t>
            </a:r>
            <a:r>
              <a:rPr lang="es-MX" sz="1800" b="1" dirty="0" err="1"/>
              <a:t>The</a:t>
            </a:r>
            <a:r>
              <a:rPr lang="es-MX" sz="1800" b="1" dirty="0"/>
              <a:t> Data </a:t>
            </a:r>
            <a:r>
              <a:rPr lang="es-MX" sz="1800" b="1" dirty="0" err="1"/>
              <a:t>Modeler</a:t>
            </a:r>
            <a:r>
              <a:rPr lang="es-MX" sz="1800" dirty="0"/>
              <a:t>, promoviendo en todo momento el trabajo colaborativo y el apoyo mutuo entre los miembros del equipo.</a:t>
            </a:r>
          </a:p>
        </p:txBody>
      </p:sp>
      <p:pic>
        <p:nvPicPr>
          <p:cNvPr id="4" name="Imagen 3">
            <a:extLst>
              <a:ext uri="{FF2B5EF4-FFF2-40B4-BE49-F238E27FC236}">
                <a16:creationId xmlns:a16="http://schemas.microsoft.com/office/drawing/2014/main" id="{51178240-40C7-206E-C6A9-08BA4C68829F}"/>
              </a:ext>
            </a:extLst>
          </p:cNvPr>
          <p:cNvPicPr>
            <a:picLocks noChangeAspect="1"/>
          </p:cNvPicPr>
          <p:nvPr/>
        </p:nvPicPr>
        <p:blipFill>
          <a:blip r:embed="rId2"/>
          <a:stretch>
            <a:fillRect/>
          </a:stretch>
        </p:blipFill>
        <p:spPr>
          <a:xfrm>
            <a:off x="8695242" y="391868"/>
            <a:ext cx="2948388" cy="294838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5" name="Imagen 4">
            <a:extLst>
              <a:ext uri="{FF2B5EF4-FFF2-40B4-BE49-F238E27FC236}">
                <a16:creationId xmlns:a16="http://schemas.microsoft.com/office/drawing/2014/main" id="{60E5D694-CE07-7A9E-B44D-DD61E3F8E956}"/>
              </a:ext>
            </a:extLst>
          </p:cNvPr>
          <p:cNvPicPr>
            <a:picLocks noChangeAspect="1"/>
          </p:cNvPicPr>
          <p:nvPr/>
        </p:nvPicPr>
        <p:blipFill>
          <a:blip r:embed="rId3"/>
          <a:stretch>
            <a:fillRect/>
          </a:stretch>
        </p:blipFill>
        <p:spPr>
          <a:xfrm>
            <a:off x="889413" y="2445229"/>
            <a:ext cx="3442374" cy="406379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811119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ED08D-F362-8BEB-16BE-427D7410BEB7}"/>
              </a:ext>
            </a:extLst>
          </p:cNvPr>
          <p:cNvSpPr>
            <a:spLocks noGrp="1"/>
          </p:cNvSpPr>
          <p:nvPr>
            <p:ph type="title"/>
          </p:nvPr>
        </p:nvSpPr>
        <p:spPr>
          <a:xfrm>
            <a:off x="255154" y="823913"/>
            <a:ext cx="4789890" cy="5210173"/>
          </a:xfr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a:noAutofit/>
          </a:bodyPr>
          <a:lstStyle/>
          <a:p>
            <a:pPr algn="ctr"/>
            <a:r>
              <a:rPr lang="es-MX" sz="2400" dirty="0"/>
              <a:t>Recordemos que este es una pequeña demostración de cómo se llevó la organización de tareas y el proyecto para ser más específico “Documentación”. Respecto a los integrantes, hubo variaciones de rol, pues se nos hizo más fácil los cambios para una mejor adaptación. La IA jugó un papel importante, ya que como los anteriores parciales se trabajó con ella pero de forma más eficiente, tomamos esos “Errores” y analizamos, fallamos, creamos, pero no se dejó de intentar a pesar de ello.</a:t>
            </a:r>
            <a:br>
              <a:rPr lang="es-MX" sz="2400" dirty="0"/>
            </a:br>
            <a:endParaRPr lang="es-MX" sz="2400" dirty="0"/>
          </a:p>
        </p:txBody>
      </p:sp>
      <p:pic>
        <p:nvPicPr>
          <p:cNvPr id="8" name="Marcador de contenido 7">
            <a:extLst>
              <a:ext uri="{FF2B5EF4-FFF2-40B4-BE49-F238E27FC236}">
                <a16:creationId xmlns:a16="http://schemas.microsoft.com/office/drawing/2014/main" id="{AFD67ABE-5872-F5F1-BA6C-EC751D6F979B}"/>
              </a:ext>
            </a:extLst>
          </p:cNvPr>
          <p:cNvPicPr>
            <a:picLocks noGrp="1" noChangeAspect="1"/>
          </p:cNvPicPr>
          <p:nvPr>
            <p:ph type="pic" idx="1"/>
          </p:nvPr>
        </p:nvPicPr>
        <p:blipFill>
          <a:blip r:embed="rId2"/>
          <a:srcRect t="13535" b="13535"/>
          <a:stretch/>
        </p:blipFill>
        <p:spPr>
          <a:xfrm>
            <a:off x="6308101" y="481097"/>
            <a:ext cx="5356022" cy="5515354"/>
          </a:xfrm>
          <a:prstGeom prst="rect">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55438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36946AA-9E8B-A1A7-E106-4A398C0CBD6A}"/>
              </a:ext>
            </a:extLst>
          </p:cNvPr>
          <p:cNvSpPr txBox="1"/>
          <p:nvPr/>
        </p:nvSpPr>
        <p:spPr>
          <a:xfrm>
            <a:off x="1025635" y="335845"/>
            <a:ext cx="10710687" cy="6186309"/>
          </a:xfrm>
          <a:prstGeom prst="rect">
            <a:avLst/>
          </a:prstGeom>
          <a:solidFill>
            <a:schemeClr val="accent3">
              <a:lumMod val="40000"/>
              <a:lumOff val="60000"/>
            </a:schemeClr>
          </a:solidFill>
          <a:ln>
            <a:solidFill>
              <a:schemeClr val="accent4">
                <a:lumMod val="50000"/>
              </a:schemeClr>
            </a:solidFill>
          </a:ln>
        </p:spPr>
        <p:txBody>
          <a:bodyPr wrap="square" rtlCol="0" anchor="b">
            <a:spAutoFit/>
          </a:bodyPr>
          <a:lstStyle/>
          <a:p>
            <a:pPr algn="justLow"/>
            <a:r>
              <a:rPr lang="es-MX" dirty="0"/>
              <a:t>Todo ese equipo que se encuentra detrás de una aplicación trabajó de manera coordinada para alcanzar los objetivos planteados desde el inicio del proyecto. Lo que comenzó como la idea de desarrollar un sistema de venta de boletos para conciertos fue evolucionando a través de las distintas etapas del desarrollo de software: planificación, implementación, pruebas y entrega. Cada fase representó un avance significativo hacia la construcción de una solución funcional y capaz de responder a las necesidades planteadas.
Como en cualquier proyecto, la comunicación entre los integrantes resultó fundamental. Al tratarse de un trabajo colaborativo, fue necesario mantener una coordinación constante para compartir avances, resolver dudas y tomar decisiones que permitieran cumplir con los objetivos establecidos. Gracias a ello, cada miembro pudo aportar desde su rol y especialidad, fortaleciendo el resultado final.
Por otra parte, el uso de </a:t>
            </a:r>
            <a:r>
              <a:rPr lang="es-MX" dirty="0" err="1"/>
              <a:t>prompts</a:t>
            </a:r>
            <a:r>
              <a:rPr lang="es-MX" dirty="0"/>
              <a:t> bien estructurados también representó una herramienta de gran ayuda, ya que permitió que la inteligencia artificial comprendiera con mayor precisión las tareas solicitadas, los requerimientos del sistema y el comportamiento esperado de cada funcionalidad. Esto facilitó la generación de soluciones más alineadas con las necesidades del proyecto y optimizó parte del proceso de desarrollo.
Actualmente, la conexión entre los diferentes componentes del sistema se encuentra funcionando de manera satisfactoria. La aplicación es capaz de almacenar correctamente la información en la base de datos, garantizando la persistencia de los registros generados por los usuarios. En este punto cobran importancia los operadores mencionados anteriormente, ya que permiten realizar tareas de mantenimiento sobre la base de datos, incluyendo modificaciones, corrección de errores, actualización de información y otras acciones necesarias para asegurar el correcto funcionamiento del sistema.</a:t>
            </a:r>
          </a:p>
        </p:txBody>
      </p:sp>
    </p:spTree>
    <p:extLst>
      <p:ext uri="{BB962C8B-B14F-4D97-AF65-F5344CB8AC3E}">
        <p14:creationId xmlns:p14="http://schemas.microsoft.com/office/powerpoint/2010/main" val="1403100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3750604-C9B9-D8CA-0E5C-7EA09A1D6582}"/>
              </a:ext>
            </a:extLst>
          </p:cNvPr>
          <p:cNvPicPr>
            <a:picLocks noChangeAspect="1"/>
          </p:cNvPicPr>
          <p:nvPr/>
        </p:nvPicPr>
        <p:blipFill>
          <a:blip r:embed="rId2"/>
          <a:stretch>
            <a:fillRect/>
          </a:stretch>
        </p:blipFill>
        <p:spPr>
          <a:xfrm>
            <a:off x="6873775" y="125764"/>
            <a:ext cx="5117988" cy="3398822"/>
          </a:xfrm>
          <a:prstGeom prst="rect">
            <a:avLst/>
          </a:prstGeom>
        </p:spPr>
      </p:pic>
      <p:sp>
        <p:nvSpPr>
          <p:cNvPr id="3" name="CuadroTexto 2">
            <a:extLst>
              <a:ext uri="{FF2B5EF4-FFF2-40B4-BE49-F238E27FC236}">
                <a16:creationId xmlns:a16="http://schemas.microsoft.com/office/drawing/2014/main" id="{4DA0D410-0A8C-6E6B-DBD6-3D1AFFB97BEE}"/>
              </a:ext>
            </a:extLst>
          </p:cNvPr>
          <p:cNvSpPr txBox="1"/>
          <p:nvPr/>
        </p:nvSpPr>
        <p:spPr>
          <a:xfrm>
            <a:off x="3634942" y="125764"/>
            <a:ext cx="3366568" cy="1200329"/>
          </a:xfrm>
          <a:prstGeom prst="rect">
            <a:avLst/>
          </a:prstGeom>
          <a:noFill/>
        </p:spPr>
        <p:txBody>
          <a:bodyPr wrap="square" rtlCol="0">
            <a:spAutoFit/>
          </a:bodyPr>
          <a:lstStyle/>
          <a:p>
            <a:pPr algn="l"/>
            <a:r>
              <a:rPr lang="es-MX" sz="3600" dirty="0">
                <a:latin typeface="Aldhabi" pitchFamily="2" charset="-78"/>
                <a:cs typeface="Aldhabi" pitchFamily="2" charset="-78"/>
              </a:rPr>
              <a:t>Distribución de trabajo:</a:t>
            </a:r>
          </a:p>
          <a:p>
            <a:pPr algn="l"/>
            <a:endParaRPr lang="es-MX" sz="3600" dirty="0">
              <a:latin typeface="Aldhabi" pitchFamily="2" charset="-78"/>
              <a:cs typeface="Aldhabi" pitchFamily="2" charset="-78"/>
            </a:endParaRPr>
          </a:p>
        </p:txBody>
      </p:sp>
      <p:pic>
        <p:nvPicPr>
          <p:cNvPr id="4" name="Imagen 3">
            <a:extLst>
              <a:ext uri="{FF2B5EF4-FFF2-40B4-BE49-F238E27FC236}">
                <a16:creationId xmlns:a16="http://schemas.microsoft.com/office/drawing/2014/main" id="{1850D356-AE76-A607-6D17-ED45BC0615F8}"/>
              </a:ext>
            </a:extLst>
          </p:cNvPr>
          <p:cNvPicPr>
            <a:picLocks noChangeAspect="1"/>
          </p:cNvPicPr>
          <p:nvPr/>
        </p:nvPicPr>
        <p:blipFill>
          <a:blip r:embed="rId3"/>
          <a:stretch>
            <a:fillRect/>
          </a:stretch>
        </p:blipFill>
        <p:spPr>
          <a:xfrm>
            <a:off x="882062" y="3523699"/>
            <a:ext cx="4686096" cy="3297623"/>
          </a:xfrm>
          <a:prstGeom prst="rect">
            <a:avLst/>
          </a:prstGeom>
        </p:spPr>
      </p:pic>
      <p:sp>
        <p:nvSpPr>
          <p:cNvPr id="6" name="CuadroTexto 5">
            <a:extLst>
              <a:ext uri="{FF2B5EF4-FFF2-40B4-BE49-F238E27FC236}">
                <a16:creationId xmlns:a16="http://schemas.microsoft.com/office/drawing/2014/main" id="{D6D4178F-88EB-9F3F-81E3-967767E8208D}"/>
              </a:ext>
            </a:extLst>
          </p:cNvPr>
          <p:cNvSpPr txBox="1"/>
          <p:nvPr/>
        </p:nvSpPr>
        <p:spPr>
          <a:xfrm>
            <a:off x="5671911" y="3631281"/>
            <a:ext cx="3366568" cy="1200329"/>
          </a:xfrm>
          <a:prstGeom prst="rect">
            <a:avLst/>
          </a:prstGeom>
          <a:noFill/>
        </p:spPr>
        <p:txBody>
          <a:bodyPr wrap="square" rtlCol="0">
            <a:spAutoFit/>
          </a:bodyPr>
          <a:lstStyle/>
          <a:p>
            <a:pPr algn="l"/>
            <a:r>
              <a:rPr lang="es-MX" sz="3600" dirty="0">
                <a:latin typeface="Aldhabi" pitchFamily="2" charset="-78"/>
                <a:cs typeface="Aldhabi" pitchFamily="2" charset="-78"/>
              </a:rPr>
              <a:t>:Avance del proyecto</a:t>
            </a:r>
          </a:p>
          <a:p>
            <a:pPr algn="l"/>
            <a:endParaRPr lang="es-MX" sz="3600" dirty="0">
              <a:latin typeface="Aldhabi" pitchFamily="2" charset="-78"/>
              <a:cs typeface="Aldhabi" pitchFamily="2" charset="-78"/>
            </a:endParaRPr>
          </a:p>
        </p:txBody>
      </p:sp>
      <p:sp>
        <p:nvSpPr>
          <p:cNvPr id="7" name="CuadroTexto 6">
            <a:extLst>
              <a:ext uri="{FF2B5EF4-FFF2-40B4-BE49-F238E27FC236}">
                <a16:creationId xmlns:a16="http://schemas.microsoft.com/office/drawing/2014/main" id="{2208DEEB-EDD0-1C6E-E6CD-F06C4DBA6301}"/>
              </a:ext>
            </a:extLst>
          </p:cNvPr>
          <p:cNvSpPr txBox="1"/>
          <p:nvPr/>
        </p:nvSpPr>
        <p:spPr>
          <a:xfrm>
            <a:off x="5568158" y="4231445"/>
            <a:ext cx="6520089" cy="2585323"/>
          </a:xfrm>
          <a:prstGeom prst="rect">
            <a:avLst/>
          </a:prstGeom>
          <a:noFill/>
        </p:spPr>
        <p:txBody>
          <a:bodyPr wrap="square" rtlCol="0" anchor="t">
            <a:spAutoFit/>
          </a:bodyPr>
          <a:lstStyle/>
          <a:p>
            <a:pPr algn="dist"/>
            <a:r>
              <a:rPr lang="es-MX" dirty="0"/>
              <a:t>La gráfica muestra el progreso alcanzado durante las principales etapas del desarrollo del sistema. Se observa un crecimiento gradual conforme se completaron las actividades de planificación, desarrollo, integración y pruebas. Los porcentajes representados no corresponden únicamente al tiempo transcurrido, sino al nivel de cumplimiento de los objetivos establecidos para cada fase. Esto permite visualizar cómo el proyecto evolucionó de manera estructurada hasta alcanzar una solución funcional y estable.</a:t>
            </a:r>
          </a:p>
        </p:txBody>
      </p:sp>
      <p:sp>
        <p:nvSpPr>
          <p:cNvPr id="8" name="CuadroTexto 7">
            <a:extLst>
              <a:ext uri="{FF2B5EF4-FFF2-40B4-BE49-F238E27FC236}">
                <a16:creationId xmlns:a16="http://schemas.microsoft.com/office/drawing/2014/main" id="{9DB536A2-7D1F-4D23-2564-45FC76A0CF88}"/>
              </a:ext>
            </a:extLst>
          </p:cNvPr>
          <p:cNvSpPr txBox="1"/>
          <p:nvPr/>
        </p:nvSpPr>
        <p:spPr>
          <a:xfrm>
            <a:off x="851121" y="725927"/>
            <a:ext cx="6022654" cy="2585323"/>
          </a:xfrm>
          <a:prstGeom prst="rect">
            <a:avLst/>
          </a:prstGeom>
          <a:noFill/>
        </p:spPr>
        <p:txBody>
          <a:bodyPr wrap="square" rtlCol="0" anchor="t">
            <a:spAutoFit/>
          </a:bodyPr>
          <a:lstStyle/>
          <a:p>
            <a:pPr algn="dist"/>
            <a:r>
              <a:rPr lang="es-MX" dirty="0"/>
              <a:t>La siguiente gráfica representa la distribución estimada del esfuerzo invertido en las distintas fases del proyecto. Puede apreciarse que la mayor parte de los recursos y actividades se concentraron en la etapa de desarrollo, debido a la implementación de funcionalidades, integración con la base de datos y validación de procesos. Las demás fases complementaron este trabajo mediante actividades de análisis, diseño, integración y pruebas, permitiendo garantizar la calidad y funcionalidad del producto final.</a:t>
            </a:r>
          </a:p>
        </p:txBody>
      </p:sp>
    </p:spTree>
    <p:extLst>
      <p:ext uri="{BB962C8B-B14F-4D97-AF65-F5344CB8AC3E}">
        <p14:creationId xmlns:p14="http://schemas.microsoft.com/office/powerpoint/2010/main" val="395854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13AD97F-0BBA-6E7F-E6A9-D1CED974B192}"/>
              </a:ext>
            </a:extLst>
          </p:cNvPr>
          <p:cNvSpPr txBox="1"/>
          <p:nvPr/>
        </p:nvSpPr>
        <p:spPr>
          <a:xfrm>
            <a:off x="786708" y="0"/>
            <a:ext cx="10925588" cy="5693866"/>
          </a:xfrm>
          <a:prstGeom prst="rect">
            <a:avLst/>
          </a:prstGeom>
          <a:noFill/>
        </p:spPr>
        <p:txBody>
          <a:bodyPr wrap="square" rtlCol="0">
            <a:spAutoFit/>
          </a:bodyPr>
          <a:lstStyle/>
          <a:p>
            <a:pPr algn="thaiDist"/>
            <a:r>
              <a:rPr lang="es-MX" sz="2800" dirty="0">
                <a:latin typeface="Aldhabi" pitchFamily="2" charset="-78"/>
                <a:ea typeface="ADLaM Display" panose="02010000000000000000" pitchFamily="2" charset="0"/>
                <a:cs typeface="Aldhabi" pitchFamily="2" charset="-78"/>
              </a:rPr>
              <a:t>Otro aspecto relevante fue la correcta estructuración de la documentación del proyecto. A través de los distintos Sprint </a:t>
            </a:r>
            <a:r>
              <a:rPr lang="es-MX" sz="2800" dirty="0" err="1">
                <a:latin typeface="Aldhabi" pitchFamily="2" charset="-78"/>
                <a:ea typeface="ADLaM Display" panose="02010000000000000000" pitchFamily="2" charset="0"/>
                <a:cs typeface="Aldhabi" pitchFamily="2" charset="-78"/>
              </a:rPr>
              <a:t>Backlogs</a:t>
            </a:r>
            <a:r>
              <a:rPr lang="es-MX" sz="2800" dirty="0">
                <a:latin typeface="Aldhabi" pitchFamily="2" charset="-78"/>
                <a:ea typeface="ADLaM Display" panose="02010000000000000000" pitchFamily="2" charset="0"/>
                <a:cs typeface="Aldhabi" pitchFamily="2" charset="-78"/>
              </a:rPr>
              <a:t> se mantuvo un seguimiento constante de las tareas, objetivos y entregables de cada etapa. Esta organización permitió visualizar el progreso del equipo, identificar prioridades y asegurar el cumplimiento de los criterios establecidos en la Definición de Hecho (</a:t>
            </a:r>
            <a:r>
              <a:rPr lang="es-MX" sz="2800" dirty="0" err="1">
                <a:latin typeface="Aldhabi" pitchFamily="2" charset="-78"/>
                <a:ea typeface="ADLaM Display" panose="02010000000000000000" pitchFamily="2" charset="0"/>
                <a:cs typeface="Aldhabi" pitchFamily="2" charset="-78"/>
              </a:rPr>
              <a:t>DoD</a:t>
            </a:r>
            <a:r>
              <a:rPr lang="es-MX" sz="2800" dirty="0">
                <a:latin typeface="Aldhabi" pitchFamily="2" charset="-78"/>
                <a:ea typeface="ADLaM Display" panose="02010000000000000000" pitchFamily="2" charset="0"/>
                <a:cs typeface="Aldhabi" pitchFamily="2" charset="-78"/>
              </a:rPr>
              <a:t>) de cada sprint.
La utilización de herramientas de control y planificación contribuyó a mantener una visión clara del estado del proyecto. Gracias a ello fue posible coordinar las actividades de desarrollo, integración y pruebas, garantizando que cada funcionalidad implementada cumpliera con los requisitos establecidos y aportara valor al producto final.
Finalmente, la integración entre la aplicación y la base de datos demostró la viabilidad de la solución desarrollada. Las pruebas realizadas confirmaron el correcto almacenamiento y recuperación de información, así como la capacidad del sistema para responder adecuadamente a las operaciones de consulta, actualización y administración de datos requeridas por el proyecto.</a:t>
            </a:r>
          </a:p>
        </p:txBody>
      </p:sp>
      <p:pic>
        <p:nvPicPr>
          <p:cNvPr id="3" name="Imagen 2">
            <a:extLst>
              <a:ext uri="{FF2B5EF4-FFF2-40B4-BE49-F238E27FC236}">
                <a16:creationId xmlns:a16="http://schemas.microsoft.com/office/drawing/2014/main" id="{BC4E2928-C09D-D3E3-04DF-4B4D5361A379}"/>
              </a:ext>
            </a:extLst>
          </p:cNvPr>
          <p:cNvPicPr>
            <a:picLocks noChangeAspect="1"/>
          </p:cNvPicPr>
          <p:nvPr/>
        </p:nvPicPr>
        <p:blipFill>
          <a:blip r:embed="rId2"/>
          <a:stretch>
            <a:fillRect/>
          </a:stretch>
        </p:blipFill>
        <p:spPr>
          <a:xfrm>
            <a:off x="10264333" y="5289911"/>
            <a:ext cx="1447963" cy="1447963"/>
          </a:xfrm>
          <a:prstGeom prst="ellipse">
            <a:avLst/>
          </a:prstGeom>
          <a:ln>
            <a:noFill/>
          </a:ln>
          <a:effectLst>
            <a:softEdge rad="112500"/>
          </a:effectLst>
        </p:spPr>
      </p:pic>
    </p:spTree>
    <p:extLst>
      <p:ext uri="{BB962C8B-B14F-4D97-AF65-F5344CB8AC3E}">
        <p14:creationId xmlns:p14="http://schemas.microsoft.com/office/powerpoint/2010/main" val="2483912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E1429A8-4FE1-6C03-EBF3-7CA2F6397D6D}"/>
              </a:ext>
            </a:extLst>
          </p:cNvPr>
          <p:cNvSpPr txBox="1"/>
          <p:nvPr/>
        </p:nvSpPr>
        <p:spPr>
          <a:xfrm>
            <a:off x="2522648" y="809410"/>
            <a:ext cx="8757194" cy="769441"/>
          </a:xfrm>
          <a:prstGeom prst="rect">
            <a:avLst/>
          </a:prstGeom>
          <a:noFill/>
        </p:spPr>
        <p:txBody>
          <a:bodyPr wrap="square" rtlCol="0">
            <a:spAutoFit/>
          </a:bodyPr>
          <a:lstStyle/>
          <a:p>
            <a:pPr algn="l"/>
            <a:r>
              <a:rPr lang="es-MX" sz="4400" dirty="0">
                <a:latin typeface="Aharoni" panose="02010803020104030203" pitchFamily="2" charset="-79"/>
                <a:ea typeface="ADLaM Display" panose="02010000000000000000" pitchFamily="2" charset="0"/>
                <a:cs typeface="Aharoni" panose="02010803020104030203" pitchFamily="2" charset="-79"/>
              </a:rPr>
              <a:t>Logros técnicos alcanzados:</a:t>
            </a:r>
          </a:p>
        </p:txBody>
      </p:sp>
      <p:sp>
        <p:nvSpPr>
          <p:cNvPr id="4" name="CuadroTexto 3">
            <a:extLst>
              <a:ext uri="{FF2B5EF4-FFF2-40B4-BE49-F238E27FC236}">
                <a16:creationId xmlns:a16="http://schemas.microsoft.com/office/drawing/2014/main" id="{15B1BF48-DA94-D951-2A08-053A75C14522}"/>
              </a:ext>
            </a:extLst>
          </p:cNvPr>
          <p:cNvSpPr txBox="1"/>
          <p:nvPr/>
        </p:nvSpPr>
        <p:spPr>
          <a:xfrm>
            <a:off x="1487722" y="1919607"/>
            <a:ext cx="5076769" cy="4524315"/>
          </a:xfrm>
          <a:prstGeom prst="rect">
            <a:avLst/>
          </a:prstGeom>
          <a:noFill/>
        </p:spPr>
        <p:txBody>
          <a:bodyPr wrap="square" rtlCol="0">
            <a:spAutoFit/>
          </a:bodyPr>
          <a:lstStyle/>
          <a:p>
            <a:pPr marL="342900" indent="-342900" algn="ctr">
              <a:buFont typeface="+mj-lt"/>
              <a:buAutoNum type="arabicPeriod"/>
            </a:pPr>
            <a:r>
              <a:rPr lang="es-MX" dirty="0">
                <a:latin typeface="ADLaM Display" panose="02010000000000000000" pitchFamily="2" charset="0"/>
                <a:ea typeface="ADLaM Display" panose="02010000000000000000" pitchFamily="2" charset="0"/>
                <a:cs typeface="ADLaM Display" panose="02010000000000000000" pitchFamily="2" charset="0"/>
              </a:rPr>
              <a:t>Implementación exitosa de Spring </a:t>
            </a:r>
            <a:r>
              <a:rPr lang="es-MX" dirty="0" err="1">
                <a:latin typeface="ADLaM Display" panose="02010000000000000000" pitchFamily="2" charset="0"/>
                <a:ea typeface="ADLaM Display" panose="02010000000000000000" pitchFamily="2" charset="0"/>
                <a:cs typeface="ADLaM Display" panose="02010000000000000000" pitchFamily="2" charset="0"/>
              </a:rPr>
              <a:t>Boot</a:t>
            </a:r>
            <a:r>
              <a:rPr lang="es-MX" dirty="0">
                <a:latin typeface="ADLaM Display" panose="02010000000000000000" pitchFamily="2" charset="0"/>
                <a:ea typeface="ADLaM Display" panose="02010000000000000000" pitchFamily="2" charset="0"/>
                <a:cs typeface="ADLaM Display" panose="02010000000000000000" pitchFamily="2" charset="0"/>
              </a:rPr>
              <a:t> con </a:t>
            </a:r>
            <a:r>
              <a:rPr lang="es-MX" dirty="0" err="1">
                <a:latin typeface="ADLaM Display" panose="02010000000000000000" pitchFamily="2" charset="0"/>
                <a:ea typeface="ADLaM Display" panose="02010000000000000000" pitchFamily="2" charset="0"/>
                <a:cs typeface="ADLaM Display" panose="02010000000000000000" pitchFamily="2" charset="0"/>
              </a:rPr>
              <a:t>MongoDB</a:t>
            </a:r>
            <a:r>
              <a:rPr lang="es-MX" dirty="0">
                <a:latin typeface="ADLaM Display" panose="02010000000000000000" pitchFamily="2" charset="0"/>
                <a:ea typeface="ADLaM Display" panose="02010000000000000000" pitchFamily="2" charset="0"/>
                <a:cs typeface="ADLaM Display" panose="02010000000000000000" pitchFamily="2" charset="0"/>
              </a:rPr>
              <a:t> Atlas.
Conexión funcional entre aplicación y base de datos.
Almacenamiento y recuperación correcta de información.
Operaciones CRUD completamente funcionales.
Mecanismos de integridad y auditoría de datos.
Documentación organizada mediante Sprint </a:t>
            </a:r>
            <a:r>
              <a:rPr lang="es-MX" dirty="0" err="1">
                <a:latin typeface="ADLaM Display" panose="02010000000000000000" pitchFamily="2" charset="0"/>
                <a:ea typeface="ADLaM Display" panose="02010000000000000000" pitchFamily="2" charset="0"/>
                <a:cs typeface="ADLaM Display" panose="02010000000000000000" pitchFamily="2" charset="0"/>
              </a:rPr>
              <a:t>Backlogs</a:t>
            </a:r>
            <a:r>
              <a:rPr lang="es-MX" dirty="0">
                <a:latin typeface="ADLaM Display" panose="02010000000000000000" pitchFamily="2" charset="0"/>
                <a:ea typeface="ADLaM Display" panose="02010000000000000000" pitchFamily="2" charset="0"/>
                <a:cs typeface="ADLaM Display" panose="02010000000000000000" pitchFamily="2" charset="0"/>
              </a:rPr>
              <a:t>.
Seguimiento del progreso mediante metodología </a:t>
            </a:r>
            <a:r>
              <a:rPr lang="es-MX" dirty="0" err="1">
                <a:latin typeface="ADLaM Display" panose="02010000000000000000" pitchFamily="2" charset="0"/>
                <a:ea typeface="ADLaM Display" panose="02010000000000000000" pitchFamily="2" charset="0"/>
                <a:cs typeface="ADLaM Display" panose="02010000000000000000" pitchFamily="2" charset="0"/>
              </a:rPr>
              <a:t>Scrum</a:t>
            </a:r>
            <a:r>
              <a:rPr lang="es-MX" dirty="0">
                <a:latin typeface="ADLaM Display" panose="02010000000000000000" pitchFamily="2" charset="0"/>
                <a:ea typeface="ADLaM Display" panose="02010000000000000000" pitchFamily="2" charset="0"/>
                <a:cs typeface="ADLaM Display" panose="02010000000000000000" pitchFamily="2" charset="0"/>
              </a:rPr>
              <a:t>.
Validación de requisitos y criterios de aceptación.</a:t>
            </a:r>
          </a:p>
        </p:txBody>
      </p:sp>
      <p:pic>
        <p:nvPicPr>
          <p:cNvPr id="5" name="Imagen 4">
            <a:extLst>
              <a:ext uri="{FF2B5EF4-FFF2-40B4-BE49-F238E27FC236}">
                <a16:creationId xmlns:a16="http://schemas.microsoft.com/office/drawing/2014/main" id="{A7D657D6-A49B-5446-308A-1395786389AF}"/>
              </a:ext>
            </a:extLst>
          </p:cNvPr>
          <p:cNvPicPr>
            <a:picLocks noChangeAspect="1"/>
          </p:cNvPicPr>
          <p:nvPr/>
        </p:nvPicPr>
        <p:blipFill>
          <a:blip r:embed="rId2"/>
          <a:stretch>
            <a:fillRect/>
          </a:stretch>
        </p:blipFill>
        <p:spPr>
          <a:xfrm>
            <a:off x="7609990" y="2221923"/>
            <a:ext cx="3489664" cy="3677028"/>
          </a:xfrm>
          <a:prstGeom prst="ellipse">
            <a:avLst/>
          </a:prstGeom>
          <a:ln>
            <a:noFill/>
          </a:ln>
          <a:effectLst>
            <a:softEdge rad="112500"/>
          </a:effectLst>
        </p:spPr>
      </p:pic>
    </p:spTree>
    <p:extLst>
      <p:ext uri="{BB962C8B-B14F-4D97-AF65-F5344CB8AC3E}">
        <p14:creationId xmlns:p14="http://schemas.microsoft.com/office/powerpoint/2010/main" val="3439712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D0D15EB-AA7C-6185-92C8-6C7208ACBA78}"/>
              </a:ext>
            </a:extLst>
          </p:cNvPr>
          <p:cNvSpPr txBox="1"/>
          <p:nvPr/>
        </p:nvSpPr>
        <p:spPr>
          <a:xfrm>
            <a:off x="965573" y="232804"/>
            <a:ext cx="4103749" cy="646331"/>
          </a:xfrm>
          <a:prstGeom prst="rect">
            <a:avLst/>
          </a:prstGeom>
          <a:noFill/>
        </p:spPr>
        <p:txBody>
          <a:bodyPr wrap="square" rtlCol="0">
            <a:spAutoFit/>
          </a:bodyPr>
          <a:lstStyle/>
          <a:p>
            <a:pPr algn="l"/>
            <a:r>
              <a:rPr lang="es-MX" sz="3600" dirty="0">
                <a:latin typeface="Aharoni" panose="02010803020104030203" pitchFamily="2" charset="-79"/>
                <a:cs typeface="Aharoni" panose="02010803020104030203" pitchFamily="2" charset="-79"/>
              </a:rPr>
              <a:t>Comentarios:…</a:t>
            </a:r>
          </a:p>
        </p:txBody>
      </p:sp>
      <p:sp>
        <p:nvSpPr>
          <p:cNvPr id="5" name="CuadroTexto 4">
            <a:extLst>
              <a:ext uri="{FF2B5EF4-FFF2-40B4-BE49-F238E27FC236}">
                <a16:creationId xmlns:a16="http://schemas.microsoft.com/office/drawing/2014/main" id="{977CE10E-3924-4806-8FCC-8E497149B901}"/>
              </a:ext>
            </a:extLst>
          </p:cNvPr>
          <p:cNvSpPr txBox="1"/>
          <p:nvPr/>
        </p:nvSpPr>
        <p:spPr>
          <a:xfrm>
            <a:off x="1016788" y="879135"/>
            <a:ext cx="9357825" cy="3785652"/>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bodyPr>
          <a:lstStyle/>
          <a:p>
            <a:pPr algn="l"/>
            <a:r>
              <a:rPr lang="es-MX" sz="2400" dirty="0">
                <a:latin typeface="Aptos Serif" panose="02020604070405020304" pitchFamily="18" charset="0"/>
                <a:cs typeface="Aptos Serif" panose="02020604070405020304" pitchFamily="18" charset="0"/>
              </a:rPr>
              <a:t>Trabajar durante este tiempo fue bastante bueno, con inconvenientes tal vez, no tenía una muy buena comunicación con la mayoría, pero poco a poco se fue mirando un cambio, el progreso que tuvimos como equipo y eso nos ayuda mucho no solo en organización, también en la materia. Nos llevamos experiencias completas, errores y unas cuantas risas, conforme al trabajo que se fue realizando no estuvo tan difícil, no era tema de “</a:t>
            </a:r>
            <a:r>
              <a:rPr lang="es-MX" sz="2400" b="1" dirty="0">
                <a:latin typeface="Aptos Serif" panose="02020604070405020304" pitchFamily="18" charset="0"/>
                <a:cs typeface="Aptos Serif" panose="02020604070405020304" pitchFamily="18" charset="0"/>
              </a:rPr>
              <a:t>dificultad” </a:t>
            </a:r>
            <a:r>
              <a:rPr lang="es-MX" sz="2400" dirty="0">
                <a:latin typeface="Aptos Serif" panose="02020604070405020304" pitchFamily="18" charset="0"/>
                <a:cs typeface="Aptos Serif" panose="02020604070405020304" pitchFamily="18" charset="0"/>
              </a:rPr>
              <a:t>si no de responsabilidad.</a:t>
            </a:r>
          </a:p>
          <a:p>
            <a:pPr algn="l"/>
            <a:r>
              <a:rPr lang="es-MX" sz="2400" dirty="0">
                <a:latin typeface="Aptos Serif" panose="02020604070405020304" pitchFamily="18" charset="0"/>
                <a:cs typeface="Aptos Serif" panose="02020604070405020304" pitchFamily="18" charset="0"/>
              </a:rPr>
              <a:t>Ambiente agradable, cooperativo y organizado (bueno, organizado tal vez </a:t>
            </a:r>
            <a:r>
              <a:rPr lang="es-MX" sz="2400" dirty="0" err="1">
                <a:latin typeface="Aptos Serif" panose="02020604070405020304" pitchFamily="18" charset="0"/>
                <a:cs typeface="Aptos Serif" panose="02020604070405020304" pitchFamily="18" charset="0"/>
              </a:rPr>
              <a:t>Jaja</a:t>
            </a:r>
            <a:r>
              <a:rPr lang="es-MX" sz="2400" dirty="0">
                <a:latin typeface="Aptos Serif" panose="02020604070405020304" pitchFamily="18" charset="0"/>
                <a:cs typeface="Aptos Serif" panose="02020604070405020304" pitchFamily="18" charset="0"/>
              </a:rPr>
              <a:t>)…</a:t>
            </a:r>
          </a:p>
        </p:txBody>
      </p:sp>
      <p:pic>
        <p:nvPicPr>
          <p:cNvPr id="6" name="Imagen 5">
            <a:extLst>
              <a:ext uri="{FF2B5EF4-FFF2-40B4-BE49-F238E27FC236}">
                <a16:creationId xmlns:a16="http://schemas.microsoft.com/office/drawing/2014/main" id="{798CE8AD-74FF-CA74-1842-01360B447AD7}"/>
              </a:ext>
            </a:extLst>
          </p:cNvPr>
          <p:cNvPicPr>
            <a:picLocks noChangeAspect="1"/>
          </p:cNvPicPr>
          <p:nvPr/>
        </p:nvPicPr>
        <p:blipFill>
          <a:blip r:embed="rId2"/>
          <a:stretch>
            <a:fillRect/>
          </a:stretch>
        </p:blipFill>
        <p:spPr>
          <a:xfrm>
            <a:off x="9008066" y="4238258"/>
            <a:ext cx="2835524" cy="255676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674484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DDD2BF7-00C7-13E0-B530-FFB28C188068}"/>
              </a:ext>
            </a:extLst>
          </p:cNvPr>
          <p:cNvSpPr txBox="1"/>
          <p:nvPr/>
        </p:nvSpPr>
        <p:spPr>
          <a:xfrm>
            <a:off x="935543" y="264278"/>
            <a:ext cx="9119014" cy="5632311"/>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l"/>
            <a:r>
              <a:rPr lang="es-MX" sz="2400" dirty="0">
                <a:latin typeface="Amasis MT Pro" panose="02040504050005020304" pitchFamily="18" charset="0"/>
                <a:cs typeface="Aldhabi" pitchFamily="2" charset="-78"/>
              </a:rPr>
              <a:t>Nadie me avisó que construir un sistema de boletos iba a ser así de intenso 💀
Empecé con un HTML inocente. Terminé con un servidor caído, errores de sintaxis en la línea 707, archivos que no se guardaban y el navegador burlándose de mí con un ‘¿Está corriendo el servidor?’
Spoiler: no estaba corriendo el servidor.
Pero aquí está: </a:t>
            </a:r>
            <a:r>
              <a:rPr lang="es-MX" sz="2400" dirty="0" err="1">
                <a:latin typeface="Amasis MT Pro" panose="02040504050005020304" pitchFamily="18" charset="0"/>
                <a:cs typeface="Aldhabi" pitchFamily="2" charset="-78"/>
              </a:rPr>
              <a:t>TicketVault</a:t>
            </a:r>
            <a:r>
              <a:rPr lang="es-MX" sz="2400" dirty="0">
                <a:latin typeface="Amasis MT Pro" panose="02040504050005020304" pitchFamily="18" charset="0"/>
                <a:cs typeface="Aldhabi" pitchFamily="2" charset="-78"/>
              </a:rPr>
              <a:t>. Un sistema completo de reserva de boletos con panel </a:t>
            </a:r>
            <a:r>
              <a:rPr lang="es-MX" sz="2400" dirty="0" err="1">
                <a:latin typeface="Amasis MT Pro" panose="02040504050005020304" pitchFamily="18" charset="0"/>
                <a:cs typeface="Aldhabi" pitchFamily="2" charset="-78"/>
              </a:rPr>
              <a:t>admin</a:t>
            </a:r>
            <a:r>
              <a:rPr lang="es-MX" sz="2400" dirty="0">
                <a:latin typeface="Amasis MT Pro" panose="02040504050005020304" pitchFamily="18" charset="0"/>
                <a:cs typeface="Aldhabi" pitchFamily="2" charset="-78"/>
              </a:rPr>
              <a:t>, validador QR, </a:t>
            </a:r>
            <a:r>
              <a:rPr lang="es-MX" sz="2400" dirty="0" err="1">
                <a:latin typeface="Amasis MT Pro" panose="02040504050005020304" pitchFamily="18" charset="0"/>
                <a:cs typeface="Aldhabi" pitchFamily="2" charset="-78"/>
              </a:rPr>
              <a:t>checkout</a:t>
            </a:r>
            <a:r>
              <a:rPr lang="es-MX" sz="2400" dirty="0">
                <a:latin typeface="Amasis MT Pro" panose="02040504050005020304" pitchFamily="18" charset="0"/>
                <a:cs typeface="Aldhabi" pitchFamily="2" charset="-78"/>
              </a:rPr>
              <a:t> y 9 eventos reales. Todo desde cero, todo con mis manos, todo con mis nervios.
¿Lo volvería a hacer? Sí. ¿Dormiría igual? Jamás. 🎟️🔥
</a:t>
            </a:r>
          </a:p>
        </p:txBody>
      </p:sp>
      <p:pic>
        <p:nvPicPr>
          <p:cNvPr id="4" name="Imagen 3">
            <a:extLst>
              <a:ext uri="{FF2B5EF4-FFF2-40B4-BE49-F238E27FC236}">
                <a16:creationId xmlns:a16="http://schemas.microsoft.com/office/drawing/2014/main" id="{05731BE8-DCD6-05C5-043F-DD1B00CE574B}"/>
              </a:ext>
            </a:extLst>
          </p:cNvPr>
          <p:cNvPicPr>
            <a:picLocks noChangeAspect="1"/>
          </p:cNvPicPr>
          <p:nvPr/>
        </p:nvPicPr>
        <p:blipFill>
          <a:blip r:embed="rId2"/>
          <a:stretch>
            <a:fillRect/>
          </a:stretch>
        </p:blipFill>
        <p:spPr>
          <a:xfrm>
            <a:off x="9464673" y="4351900"/>
            <a:ext cx="2531331" cy="230504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759584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A8C8DB8-6149-C10E-D3AE-F1D9376B2934}"/>
              </a:ext>
            </a:extLst>
          </p:cNvPr>
          <p:cNvSpPr txBox="1"/>
          <p:nvPr/>
        </p:nvSpPr>
        <p:spPr>
          <a:xfrm>
            <a:off x="924155" y="265691"/>
            <a:ext cx="11111328" cy="4154984"/>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s-MX" sz="2400" dirty="0">
                <a:latin typeface="Aptos Serif" panose="02020604070405020304" pitchFamily="18" charset="0"/>
                <a:ea typeface="ADLaM Display" panose="02010000000000000000" pitchFamily="2" charset="0"/>
                <a:cs typeface="Aptos Serif" panose="02020604070405020304" pitchFamily="18" charset="0"/>
              </a:rPr>
              <a:t>​Para mí, este proyecto fue una experiencia de contrastes. Al principio me dio un poco de frustración porque cambiar la lógica que ya conocíamos de bases de datos para adaptarnos a </a:t>
            </a:r>
            <a:r>
              <a:rPr lang="es-MX" sz="2400" dirty="0" err="1">
                <a:latin typeface="Aptos Serif" panose="02020604070405020304" pitchFamily="18" charset="0"/>
                <a:ea typeface="ADLaM Display" panose="02010000000000000000" pitchFamily="2" charset="0"/>
                <a:cs typeface="Aptos Serif" panose="02020604070405020304" pitchFamily="18" charset="0"/>
              </a:rPr>
              <a:t>MongoDB</a:t>
            </a:r>
            <a:r>
              <a:rPr lang="es-MX" sz="2400" dirty="0">
                <a:latin typeface="Aptos Serif" panose="02020604070405020304" pitchFamily="18" charset="0"/>
                <a:ea typeface="ADLaM Display" panose="02010000000000000000" pitchFamily="2" charset="0"/>
                <a:cs typeface="Aptos Serif" panose="02020604070405020304" pitchFamily="18" charset="0"/>
              </a:rPr>
              <a:t> </a:t>
            </a:r>
            <a:r>
              <a:rPr lang="es-MX" sz="2400" dirty="0" err="1">
                <a:latin typeface="Aptos Serif" panose="02020604070405020304" pitchFamily="18" charset="0"/>
                <a:ea typeface="ADLaM Display" panose="02010000000000000000" pitchFamily="2" charset="0"/>
                <a:cs typeface="Aptos Serif" panose="02020604070405020304" pitchFamily="18" charset="0"/>
              </a:rPr>
              <a:t>NoSQL</a:t>
            </a:r>
            <a:r>
              <a:rPr lang="es-MX" sz="2400" dirty="0">
                <a:latin typeface="Aptos Serif" panose="02020604070405020304" pitchFamily="18" charset="0"/>
                <a:ea typeface="ADLaM Display" panose="02010000000000000000" pitchFamily="2" charset="0"/>
                <a:cs typeface="Aptos Serif" panose="02020604070405020304" pitchFamily="18" charset="0"/>
              </a:rPr>
              <a:t> fue un proceso pesado y que sí me llegó a estresar en las primeras clases. Sin embargo, conforme fui avanzando en mi rol con las consultas y vi cómo cobraba forma el sistema, esa sensación cambió por completo. Fue muy satisfactorio ver que el pipeline de agregación y los filtros de seguridad que planeamos funcionaron bien en Atlas. Me gustó mucho la dinámica que armamos en los laboratorios; a pesar de las prisas o de tener que compartir equipos para avanzar, logramos apoyarnos siempre. Me voy muy contento con el resultado y aliviado de que todo el esfuerzo valió la pena.</a:t>
            </a:r>
          </a:p>
        </p:txBody>
      </p:sp>
      <p:pic>
        <p:nvPicPr>
          <p:cNvPr id="7" name="Imagen 6">
            <a:extLst>
              <a:ext uri="{FF2B5EF4-FFF2-40B4-BE49-F238E27FC236}">
                <a16:creationId xmlns:a16="http://schemas.microsoft.com/office/drawing/2014/main" id="{E304D552-85EB-DAE8-012E-C7AA33D42E64}"/>
              </a:ext>
            </a:extLst>
          </p:cNvPr>
          <p:cNvPicPr>
            <a:picLocks noChangeAspect="1"/>
          </p:cNvPicPr>
          <p:nvPr/>
        </p:nvPicPr>
        <p:blipFill>
          <a:blip r:embed="rId2"/>
          <a:stretch>
            <a:fillRect/>
          </a:stretch>
        </p:blipFill>
        <p:spPr>
          <a:xfrm>
            <a:off x="9357472" y="4136250"/>
            <a:ext cx="2569898" cy="254014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49658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951B74B-B978-029B-ED1D-8F1BCCEA26A2}"/>
              </a:ext>
            </a:extLst>
          </p:cNvPr>
          <p:cNvSpPr txBox="1"/>
          <p:nvPr/>
        </p:nvSpPr>
        <p:spPr>
          <a:xfrm>
            <a:off x="1355089" y="2911615"/>
            <a:ext cx="7707532" cy="1569660"/>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l"/>
            <a:r>
              <a:rPr lang="es-MX" sz="2400" dirty="0">
                <a:latin typeface="Amasis MT Pro" panose="02040504050005020304" pitchFamily="18" charset="0"/>
                <a:cs typeface="Aldhabi" pitchFamily="2" charset="-78"/>
              </a:rPr>
              <a:t>Me gustó mucho trabajar como equipo. Aunque a veces no necesitamos tanta ayuda técnica, valoro que siempre se puso mucho esfuerzo y se dio la mejor disposición para avanzar en todo. Fue una muy buena experiencia.</a:t>
            </a:r>
          </a:p>
        </p:txBody>
      </p:sp>
      <p:pic>
        <p:nvPicPr>
          <p:cNvPr id="3" name="Imagen 2">
            <a:extLst>
              <a:ext uri="{FF2B5EF4-FFF2-40B4-BE49-F238E27FC236}">
                <a16:creationId xmlns:a16="http://schemas.microsoft.com/office/drawing/2014/main" id="{0AAD5573-819E-4C49-C3C0-65F5FDEB9797}"/>
              </a:ext>
            </a:extLst>
          </p:cNvPr>
          <p:cNvPicPr>
            <a:picLocks noChangeAspect="1"/>
          </p:cNvPicPr>
          <p:nvPr/>
        </p:nvPicPr>
        <p:blipFill>
          <a:blip r:embed="rId2"/>
          <a:stretch>
            <a:fillRect/>
          </a:stretch>
        </p:blipFill>
        <p:spPr>
          <a:xfrm>
            <a:off x="9230797" y="4096301"/>
            <a:ext cx="2749919" cy="25947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684198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2668F60-95E2-C348-608F-A10757C8AF89}"/>
              </a:ext>
            </a:extLst>
          </p:cNvPr>
          <p:cNvSpPr txBox="1"/>
          <p:nvPr/>
        </p:nvSpPr>
        <p:spPr>
          <a:xfrm>
            <a:off x="4269259" y="2512030"/>
            <a:ext cx="4572023" cy="206210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nchor="b">
            <a:spAutoFit/>
          </a:bodyPr>
          <a:lstStyle/>
          <a:p>
            <a:pPr algn="ctr"/>
            <a:r>
              <a:rPr lang="es-MX" sz="3200" dirty="0">
                <a:latin typeface="Aharoni" panose="02010803020104030203" pitchFamily="2" charset="-79"/>
                <a:cs typeface="Aharoni" panose="02010803020104030203" pitchFamily="2" charset="-79"/>
              </a:rPr>
              <a:t>Y ESO FUE TODO!!</a:t>
            </a:r>
          </a:p>
          <a:p>
            <a:pPr algn="ctr"/>
            <a:endParaRPr lang="es-MX" sz="3200" dirty="0">
              <a:latin typeface="Aharoni" panose="02010803020104030203" pitchFamily="2" charset="-79"/>
              <a:cs typeface="Aharoni" panose="02010803020104030203" pitchFamily="2" charset="-79"/>
            </a:endParaRPr>
          </a:p>
          <a:p>
            <a:pPr algn="ctr"/>
            <a:r>
              <a:rPr lang="es-MX" sz="3200" dirty="0">
                <a:latin typeface="Aharoni" panose="02010803020104030203" pitchFamily="2" charset="-79"/>
                <a:cs typeface="Aharoni" panose="02010803020104030203" pitchFamily="2" charset="-79"/>
              </a:rPr>
              <a:t>MUCHAS GRACIAS! =D</a:t>
            </a:r>
          </a:p>
          <a:p>
            <a:pPr algn="ctr"/>
            <a:endParaRPr lang="es-MX" sz="3200" b="1"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789439194"/>
      </p:ext>
    </p:extLst>
  </p:cSld>
  <p:clrMapOvr>
    <a:masterClrMapping/>
  </p:clrMapOvr>
</p:sld>
</file>

<file path=ppt/theme/theme1.xml><?xml version="1.0" encoding="utf-8"?>
<a:theme xmlns:a="http://schemas.openxmlformats.org/drawingml/2006/main" name="TF10001025">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025" id="{F9915BBD-9749-466F-995C-8C8D6A938EC0}" vid="{CF1D1A65-FC75-42D2-B7EF-D2991382DC6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16</Slides>
  <Notes>0</Notes>
  <HiddenSlides>0</HiddenSlide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TF10001025</vt:lpstr>
      <vt:lpstr>Event Ticket Management System</vt:lpstr>
      <vt:lpstr>Introducción:</vt:lpstr>
      <vt:lpstr>Presentación de PowerPoint</vt:lpstr>
      <vt:lpstr>Cómo primer punto:</vt:lpstr>
      <vt:lpstr>Presentación de PowerPoint</vt:lpstr>
      <vt:lpstr>Presentación de PowerPoint</vt:lpstr>
      <vt:lpstr>Recordemos que este es una pequeña demostración de cómo se llevó la organización de tareas y el proyecto para ser más específico “Documentación”. Respecto a los integrantes, hubo variaciones de rol, pues se nos hizo más fácil los cambios para una mejor adaptación. La IA jugó un papel importante, ya que como los anteriores parciales se trabajó con ella pero de forma más eficiente, tomamos esos “Errores” y analizamos, fallamos, creamos, pero no se dejó de intentar a pesar de ello.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Ticket Management System</dc:title>
  <dc:creator>bennyantonio976@gmail.com</dc:creator>
  <cp:lastModifiedBy>bennyantonio976@gmail.com</cp:lastModifiedBy>
  <cp:revision>5</cp:revision>
  <dcterms:created xsi:type="dcterms:W3CDTF">2026-06-10T05:16:05Z</dcterms:created>
  <dcterms:modified xsi:type="dcterms:W3CDTF">2026-06-10T21:07:31Z</dcterms:modified>
</cp:coreProperties>
</file>